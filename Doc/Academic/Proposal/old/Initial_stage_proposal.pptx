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  <p:sldMasterId id="2147483674" r:id="rId3"/>
    <p:sldMasterId id="2147483678" r:id="rId4"/>
    <p:sldMasterId id="2147483692" r:id="rId5"/>
  </p:sldMasterIdLst>
  <p:notesMasterIdLst>
    <p:notesMasterId r:id="rId14"/>
  </p:notesMasterIdLst>
  <p:sldIdLst>
    <p:sldId id="286" r:id="rId6"/>
    <p:sldId id="279" r:id="rId7"/>
    <p:sldId id="276" r:id="rId8"/>
    <p:sldId id="287" r:id="rId9"/>
    <p:sldId id="277" r:id="rId10"/>
    <p:sldId id="288" r:id="rId11"/>
    <p:sldId id="289" r:id="rId12"/>
    <p:sldId id="290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867"/>
    <a:srgbClr val="FFFFFF"/>
    <a:srgbClr val="91C9E4"/>
    <a:srgbClr val="FDBA13"/>
    <a:srgbClr val="204665"/>
    <a:srgbClr val="204667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5039" autoAdjust="0"/>
  </p:normalViewPr>
  <p:slideViewPr>
    <p:cSldViewPr>
      <p:cViewPr>
        <p:scale>
          <a:sx n="80" d="100"/>
          <a:sy n="80" d="100"/>
        </p:scale>
        <p:origin x="48" y="-1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MY" b="1" dirty="0"/>
              <a:t>References: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Statista, “Global Messaging App Users,” 2024. </a:t>
            </a:r>
            <a:r>
              <a:rPr lang="en-MY" dirty="0">
                <a:hlinkClick r:id="rId3"/>
              </a:rPr>
              <a:t>https://www.statista.com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Arora, A., Kumar, S., “Privacy Risks in Messaging Apps,” IEEE Security, 2023.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Marlinspike, M., “Metadata and Privacy,” Signal Blog, 2016. https://signal.org/blog/metadata/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Meiklejohn, S. et al., “A Fistful of Bitcoins,” CCS, 2013.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Ben-Sasson, E., et al., “</a:t>
            </a:r>
            <a:r>
              <a:rPr lang="en-MY" dirty="0" err="1"/>
              <a:t>Zerocash</a:t>
            </a:r>
            <a:r>
              <a:rPr lang="en-MY" dirty="0"/>
              <a:t>: Decentralized Anonymous Payments,” IEEE S&amp;P, 2014.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73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270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F885D1F-4164-4D4C-723F-CF7C6FE71A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93119" y="3312632"/>
            <a:ext cx="5785469" cy="2194996"/>
          </a:xfrm>
        </p:spPr>
        <p:txBody>
          <a:bodyPr anchor="b">
            <a:noAutofit/>
          </a:bodyPr>
          <a:lstStyle>
            <a:lvl1pPr algn="l">
              <a:defRPr lang="en-US" sz="4800" b="0" kern="120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3118" y="5688896"/>
            <a:ext cx="5760640" cy="764440"/>
          </a:xfrm>
        </p:spPr>
        <p:txBody>
          <a:bodyPr>
            <a:normAutofit/>
          </a:bodyPr>
          <a:lstStyle>
            <a:lvl1pPr marL="0" indent="0" algn="l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FEA59D8-3128-9D20-8D26-F0B81C3C13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66051" y="1268759"/>
            <a:ext cx="4032448" cy="3463878"/>
          </a:xfrm>
          <a:custGeom>
            <a:avLst/>
            <a:gdLst>
              <a:gd name="connsiteX0" fmla="*/ 0 w 4464496"/>
              <a:gd name="connsiteY0" fmla="*/ 0 h 3463878"/>
              <a:gd name="connsiteX1" fmla="*/ 4464496 w 4464496"/>
              <a:gd name="connsiteY1" fmla="*/ 0 h 3463878"/>
              <a:gd name="connsiteX2" fmla="*/ 4464496 w 4464496"/>
              <a:gd name="connsiteY2" fmla="*/ 3463878 h 3463878"/>
              <a:gd name="connsiteX3" fmla="*/ 0 w 4464496"/>
              <a:gd name="connsiteY3" fmla="*/ 3463878 h 3463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4496" h="3463878">
                <a:moveTo>
                  <a:pt x="0" y="0"/>
                </a:moveTo>
                <a:lnTo>
                  <a:pt x="4464496" y="0"/>
                </a:lnTo>
                <a:lnTo>
                  <a:pt x="4464496" y="3463878"/>
                </a:lnTo>
                <a:lnTo>
                  <a:pt x="0" y="346387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8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B67E1A-5130-38A7-11F5-CCB3737985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804" y="1747779"/>
            <a:ext cx="3576769" cy="2040293"/>
          </a:xfrm>
          <a:custGeom>
            <a:avLst/>
            <a:gdLst>
              <a:gd name="connsiteX0" fmla="*/ 0 w 3576769"/>
              <a:gd name="connsiteY0" fmla="*/ 0 h 2040293"/>
              <a:gd name="connsiteX1" fmla="*/ 3576769 w 3576769"/>
              <a:gd name="connsiteY1" fmla="*/ 0 h 2040293"/>
              <a:gd name="connsiteX2" fmla="*/ 3576769 w 3576769"/>
              <a:gd name="connsiteY2" fmla="*/ 2040293 h 2040293"/>
              <a:gd name="connsiteX3" fmla="*/ 0 w 3576769"/>
              <a:gd name="connsiteY3" fmla="*/ 2040293 h 204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6769" h="2040293">
                <a:moveTo>
                  <a:pt x="0" y="0"/>
                </a:moveTo>
                <a:lnTo>
                  <a:pt x="3576769" y="0"/>
                </a:lnTo>
                <a:lnTo>
                  <a:pt x="3576769" y="2040293"/>
                </a:lnTo>
                <a:lnTo>
                  <a:pt x="0" y="20402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6DBE9A1-AEED-13DB-DC00-6ABFA0D56A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2210" y="3801475"/>
            <a:ext cx="3576769" cy="2040293"/>
          </a:xfrm>
          <a:custGeom>
            <a:avLst/>
            <a:gdLst>
              <a:gd name="connsiteX0" fmla="*/ 0 w 3576769"/>
              <a:gd name="connsiteY0" fmla="*/ 0 h 2040293"/>
              <a:gd name="connsiteX1" fmla="*/ 3576769 w 3576769"/>
              <a:gd name="connsiteY1" fmla="*/ 0 h 2040293"/>
              <a:gd name="connsiteX2" fmla="*/ 3576769 w 3576769"/>
              <a:gd name="connsiteY2" fmla="*/ 2040293 h 2040293"/>
              <a:gd name="connsiteX3" fmla="*/ 0 w 3576769"/>
              <a:gd name="connsiteY3" fmla="*/ 2040293 h 204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6769" h="2040293">
                <a:moveTo>
                  <a:pt x="0" y="0"/>
                </a:moveTo>
                <a:lnTo>
                  <a:pt x="3576769" y="0"/>
                </a:lnTo>
                <a:lnTo>
                  <a:pt x="3576769" y="2040293"/>
                </a:lnTo>
                <a:lnTo>
                  <a:pt x="0" y="20402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11B064-9E6E-86F7-1E6E-2C5DB8418CE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02615" y="1747779"/>
            <a:ext cx="3576769" cy="2040293"/>
          </a:xfrm>
          <a:custGeom>
            <a:avLst/>
            <a:gdLst>
              <a:gd name="connsiteX0" fmla="*/ 0 w 3576769"/>
              <a:gd name="connsiteY0" fmla="*/ 0 h 2040293"/>
              <a:gd name="connsiteX1" fmla="*/ 3576769 w 3576769"/>
              <a:gd name="connsiteY1" fmla="*/ 0 h 2040293"/>
              <a:gd name="connsiteX2" fmla="*/ 3576769 w 3576769"/>
              <a:gd name="connsiteY2" fmla="*/ 2040293 h 2040293"/>
              <a:gd name="connsiteX3" fmla="*/ 0 w 3576769"/>
              <a:gd name="connsiteY3" fmla="*/ 2040293 h 204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6769" h="2040293">
                <a:moveTo>
                  <a:pt x="0" y="0"/>
                </a:moveTo>
                <a:lnTo>
                  <a:pt x="3576769" y="0"/>
                </a:lnTo>
                <a:lnTo>
                  <a:pt x="3576769" y="2040293"/>
                </a:lnTo>
                <a:lnTo>
                  <a:pt x="0" y="20402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99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65A04A-6555-212C-A90C-73BC2990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957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065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ortfoli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65A04A-6555-212C-A90C-73BC2990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209B20F-F9A8-B7FA-6347-1309FDDAB9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68364" y="1484784"/>
            <a:ext cx="3672408" cy="1872208"/>
          </a:xfrm>
          <a:custGeom>
            <a:avLst/>
            <a:gdLst>
              <a:gd name="connsiteX0" fmla="*/ 0 w 3672408"/>
              <a:gd name="connsiteY0" fmla="*/ 0 h 1872208"/>
              <a:gd name="connsiteX1" fmla="*/ 3672408 w 3672408"/>
              <a:gd name="connsiteY1" fmla="*/ 0 h 1872208"/>
              <a:gd name="connsiteX2" fmla="*/ 3672408 w 3672408"/>
              <a:gd name="connsiteY2" fmla="*/ 1872208 h 1872208"/>
              <a:gd name="connsiteX3" fmla="*/ 0 w 3672408"/>
              <a:gd name="connsiteY3" fmla="*/ 1872208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2408" h="1872208">
                <a:moveTo>
                  <a:pt x="0" y="0"/>
                </a:moveTo>
                <a:lnTo>
                  <a:pt x="3672408" y="0"/>
                </a:lnTo>
                <a:lnTo>
                  <a:pt x="3672408" y="1872208"/>
                </a:lnTo>
                <a:lnTo>
                  <a:pt x="0" y="187220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BC108A3-E36B-0484-79A6-CA5788EC7C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55826" y="1484784"/>
            <a:ext cx="3423558" cy="4248472"/>
          </a:xfrm>
          <a:custGeom>
            <a:avLst/>
            <a:gdLst>
              <a:gd name="connsiteX0" fmla="*/ 0 w 3423558"/>
              <a:gd name="connsiteY0" fmla="*/ 0 h 4248472"/>
              <a:gd name="connsiteX1" fmla="*/ 3423558 w 3423558"/>
              <a:gd name="connsiteY1" fmla="*/ 0 h 4248472"/>
              <a:gd name="connsiteX2" fmla="*/ 3423558 w 3423558"/>
              <a:gd name="connsiteY2" fmla="*/ 4248472 h 4248472"/>
              <a:gd name="connsiteX3" fmla="*/ 0 w 3423558"/>
              <a:gd name="connsiteY3" fmla="*/ 4248472 h 4248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558" h="4248472">
                <a:moveTo>
                  <a:pt x="0" y="0"/>
                </a:moveTo>
                <a:lnTo>
                  <a:pt x="3423558" y="0"/>
                </a:lnTo>
                <a:lnTo>
                  <a:pt x="3423558" y="4248472"/>
                </a:lnTo>
                <a:lnTo>
                  <a:pt x="0" y="42484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ED1A26-EADB-F4E0-D69A-37102239A8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52540" y="3645024"/>
            <a:ext cx="2088232" cy="2088232"/>
          </a:xfrm>
          <a:custGeom>
            <a:avLst/>
            <a:gdLst>
              <a:gd name="connsiteX0" fmla="*/ 0 w 2088232"/>
              <a:gd name="connsiteY0" fmla="*/ 0 h 2088232"/>
              <a:gd name="connsiteX1" fmla="*/ 2088232 w 2088232"/>
              <a:gd name="connsiteY1" fmla="*/ 0 h 2088232"/>
              <a:gd name="connsiteX2" fmla="*/ 2088232 w 2088232"/>
              <a:gd name="connsiteY2" fmla="*/ 2088232 h 2088232"/>
              <a:gd name="connsiteX3" fmla="*/ 0 w 2088232"/>
              <a:gd name="connsiteY3" fmla="*/ 2088232 h 208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8232" h="2088232">
                <a:moveTo>
                  <a:pt x="0" y="0"/>
                </a:moveTo>
                <a:lnTo>
                  <a:pt x="2088232" y="0"/>
                </a:lnTo>
                <a:lnTo>
                  <a:pt x="2088232" y="2088232"/>
                </a:lnTo>
                <a:lnTo>
                  <a:pt x="0" y="208823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ortfolio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65A04A-6555-212C-A90C-73BC2990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026AFB2-A7C7-625D-99F4-808D87C132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6854" y="1484784"/>
            <a:ext cx="5349922" cy="1872208"/>
          </a:xfrm>
          <a:custGeom>
            <a:avLst/>
            <a:gdLst>
              <a:gd name="connsiteX0" fmla="*/ 0 w 3672408"/>
              <a:gd name="connsiteY0" fmla="*/ 0 h 1872208"/>
              <a:gd name="connsiteX1" fmla="*/ 3672408 w 3672408"/>
              <a:gd name="connsiteY1" fmla="*/ 0 h 1872208"/>
              <a:gd name="connsiteX2" fmla="*/ 3672408 w 3672408"/>
              <a:gd name="connsiteY2" fmla="*/ 1872208 h 1872208"/>
              <a:gd name="connsiteX3" fmla="*/ 0 w 3672408"/>
              <a:gd name="connsiteY3" fmla="*/ 1872208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2408" h="1872208">
                <a:moveTo>
                  <a:pt x="0" y="0"/>
                </a:moveTo>
                <a:lnTo>
                  <a:pt x="3672408" y="0"/>
                </a:lnTo>
                <a:lnTo>
                  <a:pt x="3672408" y="1872208"/>
                </a:lnTo>
                <a:lnTo>
                  <a:pt x="0" y="187220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C68E166-D012-6A24-2B70-AF14AF5DBE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8114" y="1484784"/>
            <a:ext cx="5301270" cy="4248472"/>
          </a:xfrm>
          <a:custGeom>
            <a:avLst/>
            <a:gdLst>
              <a:gd name="connsiteX0" fmla="*/ 0 w 3423558"/>
              <a:gd name="connsiteY0" fmla="*/ 0 h 4248472"/>
              <a:gd name="connsiteX1" fmla="*/ 3423558 w 3423558"/>
              <a:gd name="connsiteY1" fmla="*/ 0 h 4248472"/>
              <a:gd name="connsiteX2" fmla="*/ 3423558 w 3423558"/>
              <a:gd name="connsiteY2" fmla="*/ 4248472 h 4248472"/>
              <a:gd name="connsiteX3" fmla="*/ 0 w 3423558"/>
              <a:gd name="connsiteY3" fmla="*/ 4248472 h 4248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558" h="4248472">
                <a:moveTo>
                  <a:pt x="0" y="0"/>
                </a:moveTo>
                <a:lnTo>
                  <a:pt x="3423558" y="0"/>
                </a:lnTo>
                <a:lnTo>
                  <a:pt x="3423558" y="4248472"/>
                </a:lnTo>
                <a:lnTo>
                  <a:pt x="0" y="42484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0B2877-E238-602F-8020-C3248D514B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8544" y="3645024"/>
            <a:ext cx="2088232" cy="2088232"/>
          </a:xfrm>
          <a:custGeom>
            <a:avLst/>
            <a:gdLst>
              <a:gd name="connsiteX0" fmla="*/ 0 w 2088232"/>
              <a:gd name="connsiteY0" fmla="*/ 0 h 2088232"/>
              <a:gd name="connsiteX1" fmla="*/ 2088232 w 2088232"/>
              <a:gd name="connsiteY1" fmla="*/ 0 h 2088232"/>
              <a:gd name="connsiteX2" fmla="*/ 2088232 w 2088232"/>
              <a:gd name="connsiteY2" fmla="*/ 2088232 h 2088232"/>
              <a:gd name="connsiteX3" fmla="*/ 0 w 2088232"/>
              <a:gd name="connsiteY3" fmla="*/ 2088232 h 208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8232" h="2088232">
                <a:moveTo>
                  <a:pt x="0" y="0"/>
                </a:moveTo>
                <a:lnTo>
                  <a:pt x="2088232" y="0"/>
                </a:lnTo>
                <a:lnTo>
                  <a:pt x="2088232" y="2088232"/>
                </a:lnTo>
                <a:lnTo>
                  <a:pt x="0" y="208823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2F6F3C-DB1E-06CA-D188-2A8D545F35C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86854" y="3645024"/>
            <a:ext cx="2866030" cy="2088232"/>
          </a:xfrm>
          <a:custGeom>
            <a:avLst/>
            <a:gdLst>
              <a:gd name="connsiteX0" fmla="*/ 0 w 2088232"/>
              <a:gd name="connsiteY0" fmla="*/ 0 h 2088232"/>
              <a:gd name="connsiteX1" fmla="*/ 2088232 w 2088232"/>
              <a:gd name="connsiteY1" fmla="*/ 0 h 2088232"/>
              <a:gd name="connsiteX2" fmla="*/ 2088232 w 2088232"/>
              <a:gd name="connsiteY2" fmla="*/ 2088232 h 2088232"/>
              <a:gd name="connsiteX3" fmla="*/ 0 w 2088232"/>
              <a:gd name="connsiteY3" fmla="*/ 2088232 h 208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8232" h="2088232">
                <a:moveTo>
                  <a:pt x="0" y="0"/>
                </a:moveTo>
                <a:lnTo>
                  <a:pt x="2088232" y="0"/>
                </a:lnTo>
                <a:lnTo>
                  <a:pt x="2088232" y="2088232"/>
                </a:lnTo>
                <a:lnTo>
                  <a:pt x="0" y="208823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6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EBDE0BC-E890-D55A-6559-4D99AA923B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803" y="1124744"/>
            <a:ext cx="3024336" cy="3024336"/>
          </a:xfrm>
          <a:custGeom>
            <a:avLst/>
            <a:gdLst>
              <a:gd name="connsiteX0" fmla="*/ 0 w 3024336"/>
              <a:gd name="connsiteY0" fmla="*/ 0 h 3024336"/>
              <a:gd name="connsiteX1" fmla="*/ 3024336 w 3024336"/>
              <a:gd name="connsiteY1" fmla="*/ 0 h 3024336"/>
              <a:gd name="connsiteX2" fmla="*/ 3024336 w 3024336"/>
              <a:gd name="connsiteY2" fmla="*/ 3024336 h 3024336"/>
              <a:gd name="connsiteX3" fmla="*/ 0 w 3024336"/>
              <a:gd name="connsiteY3" fmla="*/ 3024336 h 3024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4336" h="3024336">
                <a:moveTo>
                  <a:pt x="0" y="0"/>
                </a:moveTo>
                <a:lnTo>
                  <a:pt x="3024336" y="0"/>
                </a:lnTo>
                <a:lnTo>
                  <a:pt x="3024336" y="3024336"/>
                </a:lnTo>
                <a:lnTo>
                  <a:pt x="0" y="302433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A1C5150-7AD9-257B-E821-C71127585C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47446" y="1556791"/>
            <a:ext cx="1942055" cy="2304256"/>
          </a:xfrm>
          <a:custGeom>
            <a:avLst/>
            <a:gdLst>
              <a:gd name="connsiteX0" fmla="*/ 0 w 1942055"/>
              <a:gd name="connsiteY0" fmla="*/ 0 h 2304256"/>
              <a:gd name="connsiteX1" fmla="*/ 1942055 w 1942055"/>
              <a:gd name="connsiteY1" fmla="*/ 0 h 2304256"/>
              <a:gd name="connsiteX2" fmla="*/ 1942055 w 1942055"/>
              <a:gd name="connsiteY2" fmla="*/ 2304256 h 2304256"/>
              <a:gd name="connsiteX3" fmla="*/ 0 w 1942055"/>
              <a:gd name="connsiteY3" fmla="*/ 2304256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2055" h="2304256">
                <a:moveTo>
                  <a:pt x="0" y="0"/>
                </a:moveTo>
                <a:lnTo>
                  <a:pt x="1942055" y="0"/>
                </a:lnTo>
                <a:lnTo>
                  <a:pt x="1942055" y="2304256"/>
                </a:lnTo>
                <a:lnTo>
                  <a:pt x="0" y="230425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C2B2BA8-E100-232F-2ACF-8AC319D2F1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62051" y="1556791"/>
            <a:ext cx="1942055" cy="2304256"/>
          </a:xfrm>
          <a:custGeom>
            <a:avLst/>
            <a:gdLst>
              <a:gd name="connsiteX0" fmla="*/ 0 w 1942055"/>
              <a:gd name="connsiteY0" fmla="*/ 0 h 2304256"/>
              <a:gd name="connsiteX1" fmla="*/ 1942055 w 1942055"/>
              <a:gd name="connsiteY1" fmla="*/ 0 h 2304256"/>
              <a:gd name="connsiteX2" fmla="*/ 1942055 w 1942055"/>
              <a:gd name="connsiteY2" fmla="*/ 2304256 h 2304256"/>
              <a:gd name="connsiteX3" fmla="*/ 0 w 1942055"/>
              <a:gd name="connsiteY3" fmla="*/ 2304256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2055" h="2304256">
                <a:moveTo>
                  <a:pt x="0" y="0"/>
                </a:moveTo>
                <a:lnTo>
                  <a:pt x="1942055" y="0"/>
                </a:lnTo>
                <a:lnTo>
                  <a:pt x="1942055" y="2304256"/>
                </a:lnTo>
                <a:lnTo>
                  <a:pt x="0" y="230425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748F058-0C06-C8BD-AE9E-017B634883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76655" y="1556791"/>
            <a:ext cx="1942055" cy="2304256"/>
          </a:xfrm>
          <a:custGeom>
            <a:avLst/>
            <a:gdLst>
              <a:gd name="connsiteX0" fmla="*/ 0 w 1942055"/>
              <a:gd name="connsiteY0" fmla="*/ 0 h 2304256"/>
              <a:gd name="connsiteX1" fmla="*/ 1942055 w 1942055"/>
              <a:gd name="connsiteY1" fmla="*/ 0 h 2304256"/>
              <a:gd name="connsiteX2" fmla="*/ 1942055 w 1942055"/>
              <a:gd name="connsiteY2" fmla="*/ 2304256 h 2304256"/>
              <a:gd name="connsiteX3" fmla="*/ 0 w 1942055"/>
              <a:gd name="connsiteY3" fmla="*/ 2304256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2055" h="2304256">
                <a:moveTo>
                  <a:pt x="0" y="0"/>
                </a:moveTo>
                <a:lnTo>
                  <a:pt x="1942055" y="0"/>
                </a:lnTo>
                <a:lnTo>
                  <a:pt x="1942055" y="2304256"/>
                </a:lnTo>
                <a:lnTo>
                  <a:pt x="0" y="230425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7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7C007B6-471C-30F3-4DA5-D802620F9C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0 w 121888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6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81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350983"/>
            <a:ext cx="10969943" cy="558394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7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30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1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36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75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026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79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73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217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630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939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574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83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678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265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321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897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323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919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835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75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164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699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37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120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034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413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081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899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741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745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53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4" r:id="rId2"/>
    <p:sldLayoutId id="2147483662" r:id="rId3"/>
    <p:sldLayoutId id="2147483663" r:id="rId4"/>
    <p:sldLayoutId id="2147483664" r:id="rId5"/>
    <p:sldLayoutId id="2147483666" r:id="rId6"/>
    <p:sldLayoutId id="2147483655" r:id="rId7"/>
    <p:sldLayoutId id="2147483665" r:id="rId8"/>
    <p:sldLayoutId id="2147483667" r:id="rId9"/>
    <p:sldLayoutId id="2147483668" r:id="rId10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9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0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6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hyperlink" Target="https://elgrito.witness.org/portfolio/metadata-intro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hyperlink" Target="https://www.scirp.org/journal/paperinformation.aspx?paperid=110541" TargetMode="External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ignor-julent.blogspot.com/2016/03/ridurre-il-consumo-pacchetto-dati.html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0.png"/><Relationship Id="rId5" Type="http://schemas.openxmlformats.org/officeDocument/2006/relationships/hyperlink" Target="https://en.wikipedia.org/wiki/Signal_(software)" TargetMode="Externa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Placeholder 34" descr="A close-up of a building&#10;&#10;Description automatically generated">
            <a:extLst>
              <a:ext uri="{FF2B5EF4-FFF2-40B4-BE49-F238E27FC236}">
                <a16:creationId xmlns:a16="http://schemas.microsoft.com/office/drawing/2014/main" id="{4C7557FC-3E78-20E4-E7DF-1568E9FC5B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44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88825" cy="6858000"/>
          </a:xfrm>
        </p:spPr>
      </p:pic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67F0E976-9AA5-4B90-0E9D-ACD93749CA22}"/>
              </a:ext>
            </a:extLst>
          </p:cNvPr>
          <p:cNvSpPr txBox="1">
            <a:spLocks/>
          </p:cNvSpPr>
          <p:nvPr/>
        </p:nvSpPr>
        <p:spPr>
          <a:xfrm>
            <a:off x="549796" y="836712"/>
            <a:ext cx="2833465" cy="1699846"/>
          </a:xfrm>
          <a:prstGeom prst="rect">
            <a:avLst/>
          </a:prstGeom>
        </p:spPr>
        <p:txBody>
          <a:bodyPr lIns="0" tIns="0" rIns="0" bIns="0" anchor="ctr"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IN" sz="5400" b="1" dirty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rPr>
              <a:t>FYP Proposal 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31EC97A-455E-54E1-A28B-5AA85CF70AA6}"/>
              </a:ext>
            </a:extLst>
          </p:cNvPr>
          <p:cNvSpPr/>
          <p:nvPr/>
        </p:nvSpPr>
        <p:spPr>
          <a:xfrm>
            <a:off x="4595152" y="1132314"/>
            <a:ext cx="1119137" cy="1270227"/>
          </a:xfrm>
          <a:custGeom>
            <a:avLst/>
            <a:gdLst>
              <a:gd name="connsiteX0" fmla="*/ 0 w 1338375"/>
              <a:gd name="connsiteY0" fmla="*/ 1519065 h 1519064"/>
              <a:gd name="connsiteX1" fmla="*/ 0 w 1338375"/>
              <a:gd name="connsiteY1" fmla="*/ 795728 h 1519064"/>
              <a:gd name="connsiteX2" fmla="*/ 1338375 w 1338375"/>
              <a:gd name="connsiteY2" fmla="*/ 0 h 1519064"/>
              <a:gd name="connsiteX3" fmla="*/ 904412 w 1338375"/>
              <a:gd name="connsiteY3" fmla="*/ 1229691 h 1519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8375" h="1519064">
                <a:moveTo>
                  <a:pt x="0" y="1519065"/>
                </a:moveTo>
                <a:lnTo>
                  <a:pt x="0" y="795728"/>
                </a:lnTo>
                <a:lnTo>
                  <a:pt x="1338375" y="0"/>
                </a:lnTo>
                <a:lnTo>
                  <a:pt x="904412" y="1229691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29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771110D-6F4D-A020-AFDC-5CB548C2826D}"/>
              </a:ext>
            </a:extLst>
          </p:cNvPr>
          <p:cNvSpPr/>
          <p:nvPr/>
        </p:nvSpPr>
        <p:spPr>
          <a:xfrm>
            <a:off x="3718149" y="1"/>
            <a:ext cx="8470676" cy="6858000"/>
          </a:xfrm>
          <a:custGeom>
            <a:avLst/>
            <a:gdLst>
              <a:gd name="connsiteX0" fmla="*/ 8470676 w 8470676"/>
              <a:gd name="connsiteY0" fmla="*/ 0 h 6858000"/>
              <a:gd name="connsiteX1" fmla="*/ 8470676 w 8470676"/>
              <a:gd name="connsiteY1" fmla="*/ 6858000 h 6858000"/>
              <a:gd name="connsiteX2" fmla="*/ 0 w 8470676"/>
              <a:gd name="connsiteY2" fmla="*/ 6858000 h 6858000"/>
              <a:gd name="connsiteX3" fmla="*/ 0 w 8470676"/>
              <a:gd name="connsiteY3" fmla="*/ 2629703 h 6858000"/>
              <a:gd name="connsiteX4" fmla="*/ 4468742 w 847067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70676" h="6858000">
                <a:moveTo>
                  <a:pt x="8470676" y="0"/>
                </a:moveTo>
                <a:lnTo>
                  <a:pt x="8470676" y="6858000"/>
                </a:lnTo>
                <a:lnTo>
                  <a:pt x="0" y="6858000"/>
                </a:lnTo>
                <a:lnTo>
                  <a:pt x="0" y="2629703"/>
                </a:lnTo>
                <a:lnTo>
                  <a:pt x="446874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7CB8EC1-4F0F-0797-CF54-781D49357364}"/>
              </a:ext>
            </a:extLst>
          </p:cNvPr>
          <p:cNvSpPr/>
          <p:nvPr/>
        </p:nvSpPr>
        <p:spPr>
          <a:xfrm>
            <a:off x="4595152" y="1132314"/>
            <a:ext cx="1119137" cy="1270227"/>
          </a:xfrm>
          <a:custGeom>
            <a:avLst/>
            <a:gdLst>
              <a:gd name="connsiteX0" fmla="*/ 0 w 1338375"/>
              <a:gd name="connsiteY0" fmla="*/ 795728 h 1519064"/>
              <a:gd name="connsiteX1" fmla="*/ 1338375 w 1338375"/>
              <a:gd name="connsiteY1" fmla="*/ 0 h 1519064"/>
              <a:gd name="connsiteX2" fmla="*/ 1338375 w 1338375"/>
              <a:gd name="connsiteY2" fmla="*/ 1519065 h 1519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8375" h="1519064">
                <a:moveTo>
                  <a:pt x="0" y="795728"/>
                </a:moveTo>
                <a:lnTo>
                  <a:pt x="1338375" y="0"/>
                </a:lnTo>
                <a:lnTo>
                  <a:pt x="1338375" y="1519065"/>
                </a:lnTo>
                <a:close/>
              </a:path>
            </a:pathLst>
          </a:custGeom>
          <a:solidFill>
            <a:schemeClr val="accent5"/>
          </a:solidFill>
          <a:ln w="1929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A98B096-224F-00F8-8073-92EE2F095144}"/>
              </a:ext>
            </a:extLst>
          </p:cNvPr>
          <p:cNvSpPr/>
          <p:nvPr/>
        </p:nvSpPr>
        <p:spPr>
          <a:xfrm>
            <a:off x="5878388" y="260648"/>
            <a:ext cx="820829" cy="946738"/>
          </a:xfrm>
          <a:custGeom>
            <a:avLst/>
            <a:gdLst>
              <a:gd name="connsiteX0" fmla="*/ 981630 w 981629"/>
              <a:gd name="connsiteY0" fmla="*/ 564075 h 1132203"/>
              <a:gd name="connsiteX1" fmla="*/ 491877 w 981629"/>
              <a:gd name="connsiteY1" fmla="*/ 848236 h 1132203"/>
              <a:gd name="connsiteX2" fmla="*/ 2316 w 981629"/>
              <a:gd name="connsiteY2" fmla="*/ 1132204 h 1132203"/>
              <a:gd name="connsiteX3" fmla="*/ 1158 w 981629"/>
              <a:gd name="connsiteY3" fmla="*/ 566006 h 1132203"/>
              <a:gd name="connsiteX4" fmla="*/ 0 w 981629"/>
              <a:gd name="connsiteY4" fmla="*/ 0 h 1132203"/>
              <a:gd name="connsiteX5" fmla="*/ 490719 w 981629"/>
              <a:gd name="connsiteY5" fmla="*/ 282038 h 1132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1629" h="1132203">
                <a:moveTo>
                  <a:pt x="981630" y="564075"/>
                </a:moveTo>
                <a:lnTo>
                  <a:pt x="491877" y="848236"/>
                </a:lnTo>
                <a:lnTo>
                  <a:pt x="2316" y="1132204"/>
                </a:lnTo>
                <a:lnTo>
                  <a:pt x="1158" y="566006"/>
                </a:lnTo>
                <a:lnTo>
                  <a:pt x="0" y="0"/>
                </a:lnTo>
                <a:lnTo>
                  <a:pt x="490719" y="282038"/>
                </a:lnTo>
                <a:close/>
              </a:path>
            </a:pathLst>
          </a:custGeom>
          <a:solidFill>
            <a:schemeClr val="accent5"/>
          </a:solidFill>
          <a:ln w="1929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1BAFB83-C6F1-844A-898F-4A26C875AB58}"/>
              </a:ext>
            </a:extLst>
          </p:cNvPr>
          <p:cNvSpPr/>
          <p:nvPr/>
        </p:nvSpPr>
        <p:spPr>
          <a:xfrm>
            <a:off x="6094412" y="1052736"/>
            <a:ext cx="595223" cy="686556"/>
          </a:xfrm>
          <a:custGeom>
            <a:avLst/>
            <a:gdLst>
              <a:gd name="connsiteX0" fmla="*/ 0 w 479327"/>
              <a:gd name="connsiteY0" fmla="*/ 277404 h 552878"/>
              <a:gd name="connsiteX1" fmla="*/ 239181 w 479327"/>
              <a:gd name="connsiteY1" fmla="*/ 138606 h 552878"/>
              <a:gd name="connsiteX2" fmla="*/ 478170 w 479327"/>
              <a:gd name="connsiteY2" fmla="*/ 0 h 552878"/>
              <a:gd name="connsiteX3" fmla="*/ 478749 w 479327"/>
              <a:gd name="connsiteY3" fmla="*/ 276439 h 552878"/>
              <a:gd name="connsiteX4" fmla="*/ 479328 w 479327"/>
              <a:gd name="connsiteY4" fmla="*/ 552878 h 552878"/>
              <a:gd name="connsiteX5" fmla="*/ 239761 w 479327"/>
              <a:gd name="connsiteY5" fmla="*/ 415045 h 55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9327" h="552878">
                <a:moveTo>
                  <a:pt x="0" y="277404"/>
                </a:moveTo>
                <a:lnTo>
                  <a:pt x="239181" y="138606"/>
                </a:lnTo>
                <a:lnTo>
                  <a:pt x="478170" y="0"/>
                </a:lnTo>
                <a:lnTo>
                  <a:pt x="478749" y="276439"/>
                </a:lnTo>
                <a:lnTo>
                  <a:pt x="479328" y="552878"/>
                </a:lnTo>
                <a:lnTo>
                  <a:pt x="239761" y="415045"/>
                </a:lnTo>
                <a:close/>
              </a:path>
            </a:pathLst>
          </a:custGeom>
          <a:solidFill>
            <a:schemeClr val="accent5"/>
          </a:solidFill>
          <a:ln w="1929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66DC089-CA46-91D5-9EC3-7BA0DEB659A2}"/>
              </a:ext>
            </a:extLst>
          </p:cNvPr>
          <p:cNvSpPr/>
          <p:nvPr/>
        </p:nvSpPr>
        <p:spPr>
          <a:xfrm>
            <a:off x="6022404" y="1772816"/>
            <a:ext cx="400810" cy="462150"/>
          </a:xfrm>
          <a:custGeom>
            <a:avLst/>
            <a:gdLst>
              <a:gd name="connsiteX0" fmla="*/ 0 w 479328"/>
              <a:gd name="connsiteY0" fmla="*/ 277404 h 552685"/>
              <a:gd name="connsiteX1" fmla="*/ 239181 w 479328"/>
              <a:gd name="connsiteY1" fmla="*/ 138606 h 552685"/>
              <a:gd name="connsiteX2" fmla="*/ 478170 w 479328"/>
              <a:gd name="connsiteY2" fmla="*/ 0 h 552685"/>
              <a:gd name="connsiteX3" fmla="*/ 478749 w 479328"/>
              <a:gd name="connsiteY3" fmla="*/ 276439 h 552685"/>
              <a:gd name="connsiteX4" fmla="*/ 479328 w 479328"/>
              <a:gd name="connsiteY4" fmla="*/ 552685 h 552685"/>
              <a:gd name="connsiteX5" fmla="*/ 239568 w 479328"/>
              <a:gd name="connsiteY5" fmla="*/ 415045 h 552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9328" h="552685">
                <a:moveTo>
                  <a:pt x="0" y="277404"/>
                </a:moveTo>
                <a:lnTo>
                  <a:pt x="239181" y="138606"/>
                </a:lnTo>
                <a:lnTo>
                  <a:pt x="478170" y="0"/>
                </a:lnTo>
                <a:lnTo>
                  <a:pt x="478749" y="276439"/>
                </a:lnTo>
                <a:lnTo>
                  <a:pt x="479328" y="552685"/>
                </a:lnTo>
                <a:lnTo>
                  <a:pt x="239568" y="415045"/>
                </a:lnTo>
                <a:close/>
              </a:path>
            </a:pathLst>
          </a:custGeom>
          <a:solidFill>
            <a:schemeClr val="accent5"/>
          </a:solidFill>
          <a:ln w="1929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F4463E-95B6-85E2-45E6-7A2426546FFE}"/>
              </a:ext>
            </a:extLst>
          </p:cNvPr>
          <p:cNvGrpSpPr/>
          <p:nvPr/>
        </p:nvGrpSpPr>
        <p:grpSpPr>
          <a:xfrm>
            <a:off x="8084609" y="5374619"/>
            <a:ext cx="3436983" cy="520415"/>
            <a:chOff x="4571145" y="3346526"/>
            <a:chExt cx="3436983" cy="52041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97571A7-B52E-0E3F-763C-735291FC84AB}"/>
                </a:ext>
              </a:extLst>
            </p:cNvPr>
            <p:cNvSpPr/>
            <p:nvPr/>
          </p:nvSpPr>
          <p:spPr>
            <a:xfrm>
              <a:off x="5426939" y="3424995"/>
              <a:ext cx="2581189" cy="307777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/>
                  <a:cs typeface="Arial" pitchFamily="34" charset="0"/>
                </a:rPr>
                <a:t>52215123264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1BC4C9B-6D39-E81C-397F-511D843D0DF6}"/>
                </a:ext>
              </a:extLst>
            </p:cNvPr>
            <p:cNvGrpSpPr/>
            <p:nvPr/>
          </p:nvGrpSpPr>
          <p:grpSpPr>
            <a:xfrm>
              <a:off x="4571145" y="3346526"/>
              <a:ext cx="520415" cy="520415"/>
              <a:chOff x="981844" y="2636909"/>
              <a:chExt cx="520415" cy="520415"/>
            </a:xfrm>
          </p:grpSpPr>
          <p:sp>
            <p:nvSpPr>
              <p:cNvPr id="49" name="íṣlîḍè">
                <a:extLst>
                  <a:ext uri="{FF2B5EF4-FFF2-40B4-BE49-F238E27FC236}">
                    <a16:creationId xmlns:a16="http://schemas.microsoft.com/office/drawing/2014/main" id="{7100D74B-1DA6-1EF2-8A61-125225CE45AD}"/>
                  </a:ext>
                </a:extLst>
              </p:cNvPr>
              <p:cNvSpPr/>
              <p:nvPr/>
            </p:nvSpPr>
            <p:spPr bwMode="auto">
              <a:xfrm>
                <a:off x="981844" y="2636909"/>
                <a:ext cx="520415" cy="520415"/>
              </a:xfrm>
              <a:prstGeom prst="ellipse">
                <a:avLst/>
              </a:prstGeom>
              <a:solidFill>
                <a:schemeClr val="accent1"/>
              </a:solidFill>
              <a:ln w="50800" cmpd="sng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endPara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/>
                </a:endParaRP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88FE0A91-C75D-BB2B-A69A-A3AED94C27CD}"/>
                  </a:ext>
                </a:extLst>
              </p:cNvPr>
              <p:cNvGrpSpPr/>
              <p:nvPr/>
            </p:nvGrpSpPr>
            <p:grpSpPr>
              <a:xfrm>
                <a:off x="1147206" y="2762685"/>
                <a:ext cx="189690" cy="268863"/>
                <a:chOff x="-2689225" y="1136650"/>
                <a:chExt cx="3708401" cy="5256212"/>
              </a:xfrm>
              <a:solidFill>
                <a:schemeClr val="bg1"/>
              </a:solidFill>
            </p:grpSpPr>
            <p:sp>
              <p:nvSpPr>
                <p:cNvPr id="63" name="Freeform 5">
                  <a:extLst>
                    <a:ext uri="{FF2B5EF4-FFF2-40B4-BE49-F238E27FC236}">
                      <a16:creationId xmlns:a16="http://schemas.microsoft.com/office/drawing/2014/main" id="{6A2CBE07-6B8C-C2ED-F494-47818E355F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-2689225" y="1136650"/>
                  <a:ext cx="3708401" cy="5256212"/>
                </a:xfrm>
                <a:custGeom>
                  <a:avLst/>
                  <a:gdLst>
                    <a:gd name="T0" fmla="*/ 861 w 1722"/>
                    <a:gd name="T1" fmla="*/ 0 h 2448"/>
                    <a:gd name="T2" fmla="*/ 0 w 1722"/>
                    <a:gd name="T3" fmla="*/ 861 h 2448"/>
                    <a:gd name="T4" fmla="*/ 129 w 1722"/>
                    <a:gd name="T5" fmla="*/ 1313 h 2448"/>
                    <a:gd name="T6" fmla="*/ 812 w 1722"/>
                    <a:gd name="T7" fmla="*/ 2414 h 2448"/>
                    <a:gd name="T8" fmla="*/ 873 w 1722"/>
                    <a:gd name="T9" fmla="*/ 2448 h 2448"/>
                    <a:gd name="T10" fmla="*/ 874 w 1722"/>
                    <a:gd name="T11" fmla="*/ 2448 h 2448"/>
                    <a:gd name="T12" fmla="*/ 934 w 1722"/>
                    <a:gd name="T13" fmla="*/ 2413 h 2448"/>
                    <a:gd name="T14" fmla="*/ 1600 w 1722"/>
                    <a:gd name="T15" fmla="*/ 1302 h 2448"/>
                    <a:gd name="T16" fmla="*/ 1722 w 1722"/>
                    <a:gd name="T17" fmla="*/ 861 h 2448"/>
                    <a:gd name="T18" fmla="*/ 861 w 1722"/>
                    <a:gd name="T19" fmla="*/ 0 h 2448"/>
                    <a:gd name="T20" fmla="*/ 1477 w 1722"/>
                    <a:gd name="T21" fmla="*/ 1228 h 2448"/>
                    <a:gd name="T22" fmla="*/ 872 w 1722"/>
                    <a:gd name="T23" fmla="*/ 2239 h 2448"/>
                    <a:gd name="T24" fmla="*/ 251 w 1722"/>
                    <a:gd name="T25" fmla="*/ 1238 h 2448"/>
                    <a:gd name="T26" fmla="*/ 143 w 1722"/>
                    <a:gd name="T27" fmla="*/ 861 h 2448"/>
                    <a:gd name="T28" fmla="*/ 861 w 1722"/>
                    <a:gd name="T29" fmla="*/ 142 h 2448"/>
                    <a:gd name="T30" fmla="*/ 1579 w 1722"/>
                    <a:gd name="T31" fmla="*/ 861 h 2448"/>
                    <a:gd name="T32" fmla="*/ 1477 w 1722"/>
                    <a:gd name="T33" fmla="*/ 1228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22" h="2448">
                      <a:moveTo>
                        <a:pt x="861" y="0"/>
                      </a:moveTo>
                      <a:cubicBezTo>
                        <a:pt x="386" y="0"/>
                        <a:pt x="0" y="386"/>
                        <a:pt x="0" y="861"/>
                      </a:cubicBezTo>
                      <a:cubicBezTo>
                        <a:pt x="0" y="1021"/>
                        <a:pt x="45" y="1177"/>
                        <a:pt x="129" y="1313"/>
                      </a:cubicBezTo>
                      <a:cubicBezTo>
                        <a:pt x="812" y="2414"/>
                        <a:pt x="812" y="2414"/>
                        <a:pt x="812" y="2414"/>
                      </a:cubicBezTo>
                      <a:cubicBezTo>
                        <a:pt x="825" y="2435"/>
                        <a:pt x="848" y="2448"/>
                        <a:pt x="873" y="2448"/>
                      </a:cubicBezTo>
                      <a:cubicBezTo>
                        <a:pt x="873" y="2448"/>
                        <a:pt x="873" y="2448"/>
                        <a:pt x="874" y="2448"/>
                      </a:cubicBezTo>
                      <a:cubicBezTo>
                        <a:pt x="899" y="2448"/>
                        <a:pt x="922" y="2435"/>
                        <a:pt x="934" y="2413"/>
                      </a:cubicBezTo>
                      <a:cubicBezTo>
                        <a:pt x="1600" y="1302"/>
                        <a:pt x="1600" y="1302"/>
                        <a:pt x="1600" y="1302"/>
                      </a:cubicBezTo>
                      <a:cubicBezTo>
                        <a:pt x="1680" y="1169"/>
                        <a:pt x="1722" y="1016"/>
                        <a:pt x="1722" y="861"/>
                      </a:cubicBezTo>
                      <a:cubicBezTo>
                        <a:pt x="1722" y="386"/>
                        <a:pt x="1336" y="0"/>
                        <a:pt x="861" y="0"/>
                      </a:cubicBezTo>
                      <a:close/>
                      <a:moveTo>
                        <a:pt x="1477" y="1228"/>
                      </a:moveTo>
                      <a:cubicBezTo>
                        <a:pt x="872" y="2239"/>
                        <a:pt x="872" y="2239"/>
                        <a:pt x="872" y="2239"/>
                      </a:cubicBezTo>
                      <a:cubicBezTo>
                        <a:pt x="251" y="1238"/>
                        <a:pt x="251" y="1238"/>
                        <a:pt x="251" y="1238"/>
                      </a:cubicBezTo>
                      <a:cubicBezTo>
                        <a:pt x="181" y="1125"/>
                        <a:pt x="143" y="994"/>
                        <a:pt x="143" y="861"/>
                      </a:cubicBezTo>
                      <a:cubicBezTo>
                        <a:pt x="143" y="465"/>
                        <a:pt x="466" y="142"/>
                        <a:pt x="861" y="142"/>
                      </a:cubicBezTo>
                      <a:cubicBezTo>
                        <a:pt x="1256" y="142"/>
                        <a:pt x="1579" y="465"/>
                        <a:pt x="1579" y="861"/>
                      </a:cubicBezTo>
                      <a:cubicBezTo>
                        <a:pt x="1579" y="990"/>
                        <a:pt x="1543" y="1117"/>
                        <a:pt x="1477" y="12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8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4" name="Freeform 6">
                  <a:extLst>
                    <a:ext uri="{FF2B5EF4-FFF2-40B4-BE49-F238E27FC236}">
                      <a16:creationId xmlns:a16="http://schemas.microsoft.com/office/drawing/2014/main" id="{2EF0D444-A4B6-E3CC-6187-EB2BE23B25D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-1760538" y="2060575"/>
                  <a:ext cx="1852613" cy="1849437"/>
                </a:xfrm>
                <a:custGeom>
                  <a:avLst/>
                  <a:gdLst>
                    <a:gd name="T0" fmla="*/ 430 w 860"/>
                    <a:gd name="T1" fmla="*/ 0 h 861"/>
                    <a:gd name="T2" fmla="*/ 0 w 860"/>
                    <a:gd name="T3" fmla="*/ 431 h 861"/>
                    <a:gd name="T4" fmla="*/ 430 w 860"/>
                    <a:gd name="T5" fmla="*/ 861 h 861"/>
                    <a:gd name="T6" fmla="*/ 860 w 860"/>
                    <a:gd name="T7" fmla="*/ 431 h 861"/>
                    <a:gd name="T8" fmla="*/ 430 w 860"/>
                    <a:gd name="T9" fmla="*/ 0 h 861"/>
                    <a:gd name="T10" fmla="*/ 430 w 860"/>
                    <a:gd name="T11" fmla="*/ 718 h 861"/>
                    <a:gd name="T12" fmla="*/ 142 w 860"/>
                    <a:gd name="T13" fmla="*/ 431 h 861"/>
                    <a:gd name="T14" fmla="*/ 430 w 860"/>
                    <a:gd name="T15" fmla="*/ 143 h 861"/>
                    <a:gd name="T16" fmla="*/ 717 w 860"/>
                    <a:gd name="T17" fmla="*/ 431 h 861"/>
                    <a:gd name="T18" fmla="*/ 430 w 860"/>
                    <a:gd name="T19" fmla="*/ 718 h 8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0" h="861">
                      <a:moveTo>
                        <a:pt x="430" y="0"/>
                      </a:moveTo>
                      <a:cubicBezTo>
                        <a:pt x="193" y="0"/>
                        <a:pt x="0" y="193"/>
                        <a:pt x="0" y="431"/>
                      </a:cubicBezTo>
                      <a:cubicBezTo>
                        <a:pt x="0" y="666"/>
                        <a:pt x="190" y="861"/>
                        <a:pt x="430" y="861"/>
                      </a:cubicBezTo>
                      <a:cubicBezTo>
                        <a:pt x="673" y="861"/>
                        <a:pt x="860" y="664"/>
                        <a:pt x="860" y="431"/>
                      </a:cubicBezTo>
                      <a:cubicBezTo>
                        <a:pt x="860" y="193"/>
                        <a:pt x="667" y="0"/>
                        <a:pt x="430" y="0"/>
                      </a:cubicBezTo>
                      <a:close/>
                      <a:moveTo>
                        <a:pt x="430" y="718"/>
                      </a:moveTo>
                      <a:cubicBezTo>
                        <a:pt x="271" y="718"/>
                        <a:pt x="142" y="589"/>
                        <a:pt x="142" y="431"/>
                      </a:cubicBezTo>
                      <a:cubicBezTo>
                        <a:pt x="142" y="272"/>
                        <a:pt x="272" y="143"/>
                        <a:pt x="430" y="143"/>
                      </a:cubicBezTo>
                      <a:cubicBezTo>
                        <a:pt x="588" y="143"/>
                        <a:pt x="717" y="272"/>
                        <a:pt x="717" y="431"/>
                      </a:cubicBezTo>
                      <a:cubicBezTo>
                        <a:pt x="717" y="587"/>
                        <a:pt x="592" y="718"/>
                        <a:pt x="430" y="71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8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25D8D55-1DE7-00DA-6795-BF5CA970A6BC}"/>
              </a:ext>
            </a:extLst>
          </p:cNvPr>
          <p:cNvGrpSpPr/>
          <p:nvPr/>
        </p:nvGrpSpPr>
        <p:grpSpPr>
          <a:xfrm>
            <a:off x="4520807" y="5374619"/>
            <a:ext cx="3198898" cy="520415"/>
            <a:chOff x="1007343" y="3371963"/>
            <a:chExt cx="3198898" cy="52041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DFD3A00-4288-7C1A-C414-69393A3BC9F2}"/>
                </a:ext>
              </a:extLst>
            </p:cNvPr>
            <p:cNvSpPr/>
            <p:nvPr/>
          </p:nvSpPr>
          <p:spPr>
            <a:xfrm>
              <a:off x="1738523" y="3478281"/>
              <a:ext cx="2467718" cy="30777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/>
                  <a:cs typeface="Arial" pitchFamily="34" charset="0"/>
                </a:rPr>
                <a:t>Mohammad Azri 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743D66C-1E0E-F605-2A11-086F2A3C9B43}"/>
                </a:ext>
              </a:extLst>
            </p:cNvPr>
            <p:cNvGrpSpPr/>
            <p:nvPr/>
          </p:nvGrpSpPr>
          <p:grpSpPr>
            <a:xfrm>
              <a:off x="1007343" y="3371963"/>
              <a:ext cx="520415" cy="520415"/>
              <a:chOff x="1007343" y="3371963"/>
              <a:chExt cx="520415" cy="520415"/>
            </a:xfrm>
          </p:grpSpPr>
          <p:sp>
            <p:nvSpPr>
              <p:cNvPr id="45" name="íṣlîḍè">
                <a:extLst>
                  <a:ext uri="{FF2B5EF4-FFF2-40B4-BE49-F238E27FC236}">
                    <a16:creationId xmlns:a16="http://schemas.microsoft.com/office/drawing/2014/main" id="{EDD497EE-5318-3C27-1773-6C1E35F9549B}"/>
                  </a:ext>
                </a:extLst>
              </p:cNvPr>
              <p:cNvSpPr/>
              <p:nvPr/>
            </p:nvSpPr>
            <p:spPr bwMode="auto">
              <a:xfrm>
                <a:off x="1007343" y="3371963"/>
                <a:ext cx="520415" cy="520415"/>
              </a:xfrm>
              <a:prstGeom prst="ellipse">
                <a:avLst/>
              </a:prstGeom>
              <a:solidFill>
                <a:schemeClr val="accent1"/>
              </a:solidFill>
              <a:ln w="50800" cmpd="sng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endPara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/>
                </a:endParaRPr>
              </a:p>
            </p:txBody>
          </p:sp>
          <p:sp>
            <p:nvSpPr>
              <p:cNvPr id="46" name="Freeform 16">
                <a:extLst>
                  <a:ext uri="{FF2B5EF4-FFF2-40B4-BE49-F238E27FC236}">
                    <a16:creationId xmlns:a16="http://schemas.microsoft.com/office/drawing/2014/main" id="{73DFA303-7626-F74A-F64F-F510721E5DF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1194" y="3506132"/>
                <a:ext cx="252714" cy="252077"/>
              </a:xfrm>
              <a:custGeom>
                <a:avLst/>
                <a:gdLst>
                  <a:gd name="T0" fmla="*/ 1171 w 2342"/>
                  <a:gd name="T1" fmla="*/ 0 h 2342"/>
                  <a:gd name="T2" fmla="*/ 0 w 2342"/>
                  <a:gd name="T3" fmla="*/ 1171 h 2342"/>
                  <a:gd name="T4" fmla="*/ 1171 w 2342"/>
                  <a:gd name="T5" fmla="*/ 2342 h 2342"/>
                  <a:gd name="T6" fmla="*/ 2342 w 2342"/>
                  <a:gd name="T7" fmla="*/ 1171 h 2342"/>
                  <a:gd name="T8" fmla="*/ 2236 w 2342"/>
                  <a:gd name="T9" fmla="*/ 1118 h 2342"/>
                  <a:gd name="T10" fmla="*/ 1708 w 2342"/>
                  <a:gd name="T11" fmla="*/ 609 h 2342"/>
                  <a:gd name="T12" fmla="*/ 2236 w 2342"/>
                  <a:gd name="T13" fmla="*/ 1118 h 2342"/>
                  <a:gd name="T14" fmla="*/ 1677 w 2342"/>
                  <a:gd name="T15" fmla="*/ 1224 h 2342"/>
                  <a:gd name="T16" fmla="*/ 1224 w 2342"/>
                  <a:gd name="T17" fmla="*/ 1608 h 2342"/>
                  <a:gd name="T18" fmla="*/ 1874 w 2342"/>
                  <a:gd name="T19" fmla="*/ 370 h 2342"/>
                  <a:gd name="T20" fmla="*/ 1613 w 2342"/>
                  <a:gd name="T21" fmla="*/ 364 h 2342"/>
                  <a:gd name="T22" fmla="*/ 1874 w 2342"/>
                  <a:gd name="T23" fmla="*/ 370 h 2342"/>
                  <a:gd name="T24" fmla="*/ 1520 w 2342"/>
                  <a:gd name="T25" fmla="*/ 411 h 2342"/>
                  <a:gd name="T26" fmla="*/ 1224 w 2342"/>
                  <a:gd name="T27" fmla="*/ 633 h 2342"/>
                  <a:gd name="T28" fmla="*/ 1611 w 2342"/>
                  <a:gd name="T29" fmla="*/ 654 h 2342"/>
                  <a:gd name="T30" fmla="*/ 1224 w 2342"/>
                  <a:gd name="T31" fmla="*/ 1119 h 2342"/>
                  <a:gd name="T32" fmla="*/ 1611 w 2342"/>
                  <a:gd name="T33" fmla="*/ 654 h 2342"/>
                  <a:gd name="T34" fmla="*/ 665 w 2342"/>
                  <a:gd name="T35" fmla="*/ 1118 h 2342"/>
                  <a:gd name="T36" fmla="*/ 1118 w 2342"/>
                  <a:gd name="T37" fmla="*/ 737 h 2342"/>
                  <a:gd name="T38" fmla="*/ 1119 w 2342"/>
                  <a:gd name="T39" fmla="*/ 121 h 2342"/>
                  <a:gd name="T40" fmla="*/ 763 w 2342"/>
                  <a:gd name="T41" fmla="*/ 553 h 2342"/>
                  <a:gd name="T42" fmla="*/ 1119 w 2342"/>
                  <a:gd name="T43" fmla="*/ 121 h 2342"/>
                  <a:gd name="T44" fmla="*/ 729 w 2342"/>
                  <a:gd name="T45" fmla="*/ 364 h 2342"/>
                  <a:gd name="T46" fmla="*/ 469 w 2342"/>
                  <a:gd name="T47" fmla="*/ 370 h 2342"/>
                  <a:gd name="T48" fmla="*/ 393 w 2342"/>
                  <a:gd name="T49" fmla="*/ 443 h 2342"/>
                  <a:gd name="T50" fmla="*/ 560 w 2342"/>
                  <a:gd name="T51" fmla="*/ 1118 h 2342"/>
                  <a:gd name="T52" fmla="*/ 393 w 2342"/>
                  <a:gd name="T53" fmla="*/ 443 h 2342"/>
                  <a:gd name="T54" fmla="*/ 560 w 2342"/>
                  <a:gd name="T55" fmla="*/ 1224 h 2342"/>
                  <a:gd name="T56" fmla="*/ 395 w 2342"/>
                  <a:gd name="T57" fmla="*/ 1901 h 2342"/>
                  <a:gd name="T58" fmla="*/ 471 w 2342"/>
                  <a:gd name="T59" fmla="*/ 1974 h 2342"/>
                  <a:gd name="T60" fmla="*/ 729 w 2342"/>
                  <a:gd name="T61" fmla="*/ 1978 h 2342"/>
                  <a:gd name="T62" fmla="*/ 471 w 2342"/>
                  <a:gd name="T63" fmla="*/ 1974 h 2342"/>
                  <a:gd name="T64" fmla="*/ 823 w 2342"/>
                  <a:gd name="T65" fmla="*/ 1931 h 2342"/>
                  <a:gd name="T66" fmla="*/ 1119 w 2342"/>
                  <a:gd name="T67" fmla="*/ 1713 h 2342"/>
                  <a:gd name="T68" fmla="*/ 732 w 2342"/>
                  <a:gd name="T69" fmla="*/ 1692 h 2342"/>
                  <a:gd name="T70" fmla="*/ 1119 w 2342"/>
                  <a:gd name="T71" fmla="*/ 1224 h 2342"/>
                  <a:gd name="T72" fmla="*/ 732 w 2342"/>
                  <a:gd name="T73" fmla="*/ 1692 h 2342"/>
                  <a:gd name="T74" fmla="*/ 1224 w 2342"/>
                  <a:gd name="T75" fmla="*/ 1713 h 2342"/>
                  <a:gd name="T76" fmla="*/ 1520 w 2342"/>
                  <a:gd name="T77" fmla="*/ 1931 h 2342"/>
                  <a:gd name="T78" fmla="*/ 1460 w 2342"/>
                  <a:gd name="T79" fmla="*/ 2198 h 2342"/>
                  <a:gd name="T80" fmla="*/ 1674 w 2342"/>
                  <a:gd name="T81" fmla="*/ 1837 h 2342"/>
                  <a:gd name="T82" fmla="*/ 1460 w 2342"/>
                  <a:gd name="T83" fmla="*/ 2198 h 2342"/>
                  <a:gd name="T84" fmla="*/ 1708 w 2342"/>
                  <a:gd name="T85" fmla="*/ 1736 h 2342"/>
                  <a:gd name="T86" fmla="*/ 2237 w 2342"/>
                  <a:gd name="T87" fmla="*/ 1224 h 2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42" h="2342">
                    <a:moveTo>
                      <a:pt x="1999" y="343"/>
                    </a:moveTo>
                    <a:cubicBezTo>
                      <a:pt x="1778" y="122"/>
                      <a:pt x="1484" y="0"/>
                      <a:pt x="1171" y="0"/>
                    </a:cubicBezTo>
                    <a:cubicBezTo>
                      <a:pt x="858" y="0"/>
                      <a:pt x="564" y="122"/>
                      <a:pt x="343" y="343"/>
                    </a:cubicBezTo>
                    <a:cubicBezTo>
                      <a:pt x="122" y="564"/>
                      <a:pt x="0" y="858"/>
                      <a:pt x="0" y="1171"/>
                    </a:cubicBezTo>
                    <a:cubicBezTo>
                      <a:pt x="0" y="1484"/>
                      <a:pt x="122" y="1778"/>
                      <a:pt x="343" y="1999"/>
                    </a:cubicBezTo>
                    <a:cubicBezTo>
                      <a:pt x="564" y="2220"/>
                      <a:pt x="858" y="2342"/>
                      <a:pt x="1171" y="2342"/>
                    </a:cubicBezTo>
                    <a:cubicBezTo>
                      <a:pt x="1484" y="2342"/>
                      <a:pt x="1778" y="2220"/>
                      <a:pt x="1999" y="1999"/>
                    </a:cubicBezTo>
                    <a:cubicBezTo>
                      <a:pt x="2220" y="1778"/>
                      <a:pt x="2342" y="1484"/>
                      <a:pt x="2342" y="1171"/>
                    </a:cubicBezTo>
                    <a:cubicBezTo>
                      <a:pt x="2342" y="858"/>
                      <a:pt x="2220" y="564"/>
                      <a:pt x="1999" y="343"/>
                    </a:cubicBezTo>
                    <a:close/>
                    <a:moveTo>
                      <a:pt x="2236" y="1118"/>
                    </a:moveTo>
                    <a:cubicBezTo>
                      <a:pt x="1782" y="1118"/>
                      <a:pt x="1782" y="1118"/>
                      <a:pt x="1782" y="1118"/>
                    </a:cubicBezTo>
                    <a:cubicBezTo>
                      <a:pt x="1778" y="938"/>
                      <a:pt x="1752" y="764"/>
                      <a:pt x="1708" y="609"/>
                    </a:cubicBezTo>
                    <a:cubicBezTo>
                      <a:pt x="1794" y="565"/>
                      <a:pt x="1875" y="509"/>
                      <a:pt x="1949" y="443"/>
                    </a:cubicBezTo>
                    <a:cubicBezTo>
                      <a:pt x="2117" y="622"/>
                      <a:pt x="2223" y="858"/>
                      <a:pt x="2236" y="1118"/>
                    </a:cubicBezTo>
                    <a:close/>
                    <a:moveTo>
                      <a:pt x="1224" y="1224"/>
                    </a:moveTo>
                    <a:cubicBezTo>
                      <a:pt x="1677" y="1224"/>
                      <a:pt x="1677" y="1224"/>
                      <a:pt x="1677" y="1224"/>
                    </a:cubicBezTo>
                    <a:cubicBezTo>
                      <a:pt x="1674" y="1390"/>
                      <a:pt x="1651" y="1549"/>
                      <a:pt x="1611" y="1692"/>
                    </a:cubicBezTo>
                    <a:cubicBezTo>
                      <a:pt x="1488" y="1642"/>
                      <a:pt x="1358" y="1614"/>
                      <a:pt x="1224" y="1608"/>
                    </a:cubicBezTo>
                    <a:lnTo>
                      <a:pt x="1224" y="1224"/>
                    </a:lnTo>
                    <a:close/>
                    <a:moveTo>
                      <a:pt x="1874" y="370"/>
                    </a:moveTo>
                    <a:cubicBezTo>
                      <a:pt x="1813" y="424"/>
                      <a:pt x="1746" y="470"/>
                      <a:pt x="1675" y="508"/>
                    </a:cubicBezTo>
                    <a:cubicBezTo>
                      <a:pt x="1657" y="457"/>
                      <a:pt x="1636" y="409"/>
                      <a:pt x="1613" y="364"/>
                    </a:cubicBezTo>
                    <a:cubicBezTo>
                      <a:pt x="1568" y="275"/>
                      <a:pt x="1516" y="201"/>
                      <a:pt x="1459" y="144"/>
                    </a:cubicBezTo>
                    <a:cubicBezTo>
                      <a:pt x="1615" y="188"/>
                      <a:pt x="1756" y="266"/>
                      <a:pt x="1874" y="370"/>
                    </a:cubicBezTo>
                    <a:close/>
                    <a:moveTo>
                      <a:pt x="1224" y="121"/>
                    </a:moveTo>
                    <a:cubicBezTo>
                      <a:pt x="1333" y="145"/>
                      <a:pt x="1436" y="246"/>
                      <a:pt x="1520" y="411"/>
                    </a:cubicBezTo>
                    <a:cubicBezTo>
                      <a:pt x="1542" y="455"/>
                      <a:pt x="1562" y="503"/>
                      <a:pt x="1580" y="553"/>
                    </a:cubicBezTo>
                    <a:cubicBezTo>
                      <a:pt x="1467" y="599"/>
                      <a:pt x="1347" y="626"/>
                      <a:pt x="1224" y="633"/>
                    </a:cubicBezTo>
                    <a:lnTo>
                      <a:pt x="1224" y="121"/>
                    </a:lnTo>
                    <a:close/>
                    <a:moveTo>
                      <a:pt x="1611" y="654"/>
                    </a:moveTo>
                    <a:cubicBezTo>
                      <a:pt x="1651" y="795"/>
                      <a:pt x="1673" y="953"/>
                      <a:pt x="1677" y="1119"/>
                    </a:cubicBezTo>
                    <a:cubicBezTo>
                      <a:pt x="1224" y="1119"/>
                      <a:pt x="1224" y="1119"/>
                      <a:pt x="1224" y="1119"/>
                    </a:cubicBezTo>
                    <a:cubicBezTo>
                      <a:pt x="1224" y="738"/>
                      <a:pt x="1224" y="738"/>
                      <a:pt x="1224" y="738"/>
                    </a:cubicBezTo>
                    <a:cubicBezTo>
                      <a:pt x="1358" y="732"/>
                      <a:pt x="1489" y="703"/>
                      <a:pt x="1611" y="654"/>
                    </a:cubicBezTo>
                    <a:close/>
                    <a:moveTo>
                      <a:pt x="1118" y="1118"/>
                    </a:moveTo>
                    <a:cubicBezTo>
                      <a:pt x="665" y="1118"/>
                      <a:pt x="665" y="1118"/>
                      <a:pt x="665" y="1118"/>
                    </a:cubicBezTo>
                    <a:cubicBezTo>
                      <a:pt x="668" y="953"/>
                      <a:pt x="691" y="795"/>
                      <a:pt x="730" y="653"/>
                    </a:cubicBezTo>
                    <a:cubicBezTo>
                      <a:pt x="853" y="703"/>
                      <a:pt x="984" y="732"/>
                      <a:pt x="1118" y="737"/>
                    </a:cubicBezTo>
                    <a:cubicBezTo>
                      <a:pt x="1118" y="1118"/>
                      <a:pt x="1118" y="1118"/>
                      <a:pt x="1118" y="1118"/>
                    </a:cubicBezTo>
                    <a:close/>
                    <a:moveTo>
                      <a:pt x="1119" y="121"/>
                    </a:moveTo>
                    <a:cubicBezTo>
                      <a:pt x="1119" y="633"/>
                      <a:pt x="1119" y="633"/>
                      <a:pt x="1119" y="633"/>
                    </a:cubicBezTo>
                    <a:cubicBezTo>
                      <a:pt x="995" y="626"/>
                      <a:pt x="875" y="599"/>
                      <a:pt x="763" y="553"/>
                    </a:cubicBezTo>
                    <a:cubicBezTo>
                      <a:pt x="780" y="503"/>
                      <a:pt x="800" y="455"/>
                      <a:pt x="823" y="411"/>
                    </a:cubicBezTo>
                    <a:cubicBezTo>
                      <a:pt x="906" y="246"/>
                      <a:pt x="1009" y="145"/>
                      <a:pt x="1119" y="121"/>
                    </a:cubicBezTo>
                    <a:close/>
                    <a:moveTo>
                      <a:pt x="883" y="144"/>
                    </a:moveTo>
                    <a:cubicBezTo>
                      <a:pt x="826" y="201"/>
                      <a:pt x="775" y="275"/>
                      <a:pt x="729" y="364"/>
                    </a:cubicBezTo>
                    <a:cubicBezTo>
                      <a:pt x="707" y="409"/>
                      <a:pt x="686" y="457"/>
                      <a:pt x="668" y="508"/>
                    </a:cubicBezTo>
                    <a:cubicBezTo>
                      <a:pt x="597" y="470"/>
                      <a:pt x="530" y="424"/>
                      <a:pt x="469" y="370"/>
                    </a:cubicBezTo>
                    <a:cubicBezTo>
                      <a:pt x="587" y="266"/>
                      <a:pt x="728" y="188"/>
                      <a:pt x="883" y="144"/>
                    </a:cubicBezTo>
                    <a:close/>
                    <a:moveTo>
                      <a:pt x="393" y="443"/>
                    </a:moveTo>
                    <a:cubicBezTo>
                      <a:pt x="467" y="509"/>
                      <a:pt x="548" y="564"/>
                      <a:pt x="635" y="609"/>
                    </a:cubicBezTo>
                    <a:cubicBezTo>
                      <a:pt x="590" y="764"/>
                      <a:pt x="564" y="938"/>
                      <a:pt x="560" y="1118"/>
                    </a:cubicBezTo>
                    <a:cubicBezTo>
                      <a:pt x="106" y="1118"/>
                      <a:pt x="106" y="1118"/>
                      <a:pt x="106" y="1118"/>
                    </a:cubicBezTo>
                    <a:cubicBezTo>
                      <a:pt x="119" y="858"/>
                      <a:pt x="226" y="622"/>
                      <a:pt x="393" y="443"/>
                    </a:cubicBezTo>
                    <a:close/>
                    <a:moveTo>
                      <a:pt x="106" y="1224"/>
                    </a:moveTo>
                    <a:cubicBezTo>
                      <a:pt x="560" y="1224"/>
                      <a:pt x="560" y="1224"/>
                      <a:pt x="560" y="1224"/>
                    </a:cubicBezTo>
                    <a:cubicBezTo>
                      <a:pt x="565" y="1406"/>
                      <a:pt x="591" y="1580"/>
                      <a:pt x="636" y="1736"/>
                    </a:cubicBezTo>
                    <a:cubicBezTo>
                      <a:pt x="549" y="1780"/>
                      <a:pt x="469" y="1835"/>
                      <a:pt x="395" y="1901"/>
                    </a:cubicBezTo>
                    <a:cubicBezTo>
                      <a:pt x="226" y="1722"/>
                      <a:pt x="119" y="1485"/>
                      <a:pt x="106" y="1224"/>
                    </a:cubicBezTo>
                    <a:close/>
                    <a:moveTo>
                      <a:pt x="471" y="1974"/>
                    </a:moveTo>
                    <a:cubicBezTo>
                      <a:pt x="532" y="1921"/>
                      <a:pt x="598" y="1875"/>
                      <a:pt x="668" y="1837"/>
                    </a:cubicBezTo>
                    <a:cubicBezTo>
                      <a:pt x="687" y="1886"/>
                      <a:pt x="707" y="1934"/>
                      <a:pt x="729" y="1978"/>
                    </a:cubicBezTo>
                    <a:cubicBezTo>
                      <a:pt x="775" y="2067"/>
                      <a:pt x="826" y="2141"/>
                      <a:pt x="883" y="2198"/>
                    </a:cubicBezTo>
                    <a:cubicBezTo>
                      <a:pt x="729" y="2154"/>
                      <a:pt x="588" y="2077"/>
                      <a:pt x="471" y="1974"/>
                    </a:cubicBezTo>
                    <a:close/>
                    <a:moveTo>
                      <a:pt x="1119" y="2221"/>
                    </a:moveTo>
                    <a:cubicBezTo>
                      <a:pt x="1009" y="2197"/>
                      <a:pt x="906" y="2096"/>
                      <a:pt x="823" y="1931"/>
                    </a:cubicBezTo>
                    <a:cubicBezTo>
                      <a:pt x="801" y="1888"/>
                      <a:pt x="781" y="1841"/>
                      <a:pt x="764" y="1792"/>
                    </a:cubicBezTo>
                    <a:cubicBezTo>
                      <a:pt x="876" y="1746"/>
                      <a:pt x="996" y="1718"/>
                      <a:pt x="1119" y="1713"/>
                    </a:cubicBezTo>
                    <a:cubicBezTo>
                      <a:pt x="1119" y="2221"/>
                      <a:pt x="1119" y="2221"/>
                      <a:pt x="1119" y="2221"/>
                    </a:cubicBezTo>
                    <a:close/>
                    <a:moveTo>
                      <a:pt x="732" y="1692"/>
                    </a:moveTo>
                    <a:cubicBezTo>
                      <a:pt x="692" y="1549"/>
                      <a:pt x="669" y="1390"/>
                      <a:pt x="665" y="1224"/>
                    </a:cubicBezTo>
                    <a:cubicBezTo>
                      <a:pt x="1119" y="1224"/>
                      <a:pt x="1119" y="1224"/>
                      <a:pt x="1119" y="1224"/>
                    </a:cubicBezTo>
                    <a:cubicBezTo>
                      <a:pt x="1119" y="1608"/>
                      <a:pt x="1119" y="1608"/>
                      <a:pt x="1119" y="1608"/>
                    </a:cubicBezTo>
                    <a:cubicBezTo>
                      <a:pt x="985" y="1613"/>
                      <a:pt x="854" y="1642"/>
                      <a:pt x="732" y="1692"/>
                    </a:cubicBezTo>
                    <a:close/>
                    <a:moveTo>
                      <a:pt x="1224" y="2221"/>
                    </a:moveTo>
                    <a:cubicBezTo>
                      <a:pt x="1224" y="1713"/>
                      <a:pt x="1224" y="1713"/>
                      <a:pt x="1224" y="1713"/>
                    </a:cubicBezTo>
                    <a:cubicBezTo>
                      <a:pt x="1347" y="1719"/>
                      <a:pt x="1467" y="1746"/>
                      <a:pt x="1579" y="1792"/>
                    </a:cubicBezTo>
                    <a:cubicBezTo>
                      <a:pt x="1562" y="1841"/>
                      <a:pt x="1542" y="1888"/>
                      <a:pt x="1520" y="1931"/>
                    </a:cubicBezTo>
                    <a:cubicBezTo>
                      <a:pt x="1437" y="2096"/>
                      <a:pt x="1334" y="2197"/>
                      <a:pt x="1224" y="2221"/>
                    </a:cubicBezTo>
                    <a:close/>
                    <a:moveTo>
                      <a:pt x="1460" y="2198"/>
                    </a:moveTo>
                    <a:cubicBezTo>
                      <a:pt x="1517" y="2141"/>
                      <a:pt x="1568" y="2067"/>
                      <a:pt x="1614" y="1977"/>
                    </a:cubicBezTo>
                    <a:cubicBezTo>
                      <a:pt x="1636" y="1933"/>
                      <a:pt x="1656" y="1886"/>
                      <a:pt x="1674" y="1837"/>
                    </a:cubicBezTo>
                    <a:cubicBezTo>
                      <a:pt x="1745" y="1874"/>
                      <a:pt x="1811" y="1920"/>
                      <a:pt x="1872" y="1974"/>
                    </a:cubicBezTo>
                    <a:cubicBezTo>
                      <a:pt x="1755" y="2077"/>
                      <a:pt x="1614" y="2154"/>
                      <a:pt x="1460" y="2198"/>
                    </a:cubicBezTo>
                    <a:close/>
                    <a:moveTo>
                      <a:pt x="1948" y="1901"/>
                    </a:moveTo>
                    <a:cubicBezTo>
                      <a:pt x="1875" y="1836"/>
                      <a:pt x="1794" y="1780"/>
                      <a:pt x="1708" y="1736"/>
                    </a:cubicBezTo>
                    <a:cubicBezTo>
                      <a:pt x="1753" y="1580"/>
                      <a:pt x="1779" y="1405"/>
                      <a:pt x="1783" y="1224"/>
                    </a:cubicBezTo>
                    <a:cubicBezTo>
                      <a:pt x="2237" y="1224"/>
                      <a:pt x="2237" y="1224"/>
                      <a:pt x="2237" y="1224"/>
                    </a:cubicBezTo>
                    <a:cubicBezTo>
                      <a:pt x="2224" y="1485"/>
                      <a:pt x="2117" y="1722"/>
                      <a:pt x="1948" y="19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D44486B-418A-B249-A99C-A2EC3BAE46AC}"/>
              </a:ext>
            </a:extLst>
          </p:cNvPr>
          <p:cNvSpPr txBox="1"/>
          <p:nvPr/>
        </p:nvSpPr>
        <p:spPr>
          <a:xfrm>
            <a:off x="4510236" y="3284984"/>
            <a:ext cx="6872907" cy="10081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800"/>
              <a:t>Secure Chat with Blockchain‑Based Authentication &amp; Zero‑Knowledge Proofs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cs typeface="Arial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FB6B2BB-0927-5CFC-E86A-5F6A2CB79698}"/>
              </a:ext>
            </a:extLst>
          </p:cNvPr>
          <p:cNvSpPr/>
          <p:nvPr/>
        </p:nvSpPr>
        <p:spPr>
          <a:xfrm rot="17789983">
            <a:off x="-500120" y="5688877"/>
            <a:ext cx="1443597" cy="1443597"/>
          </a:xfrm>
          <a:prstGeom prst="ellipse">
            <a:avLst/>
          </a:prstGeom>
          <a:noFill/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2A4066-9D10-829D-BFAA-7834720B22D8}"/>
              </a:ext>
            </a:extLst>
          </p:cNvPr>
          <p:cNvSpPr/>
          <p:nvPr/>
        </p:nvSpPr>
        <p:spPr>
          <a:xfrm rot="17789983">
            <a:off x="663593" y="5740724"/>
            <a:ext cx="667170" cy="667170"/>
          </a:xfrm>
          <a:prstGeom prst="ellips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8F1221-EE0D-AC1E-F303-9B09CE8B70E7}"/>
              </a:ext>
            </a:extLst>
          </p:cNvPr>
          <p:cNvGrpSpPr>
            <a:grpSpLocks noChangeAspect="1"/>
          </p:cNvGrpSpPr>
          <p:nvPr/>
        </p:nvGrpSpPr>
        <p:grpSpPr>
          <a:xfrm>
            <a:off x="10790539" y="576264"/>
            <a:ext cx="846586" cy="928356"/>
            <a:chOff x="8634305" y="1779427"/>
            <a:chExt cx="890581" cy="976605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95515EE-EBF5-77F6-CDF1-7BF242CBDF9A}"/>
                </a:ext>
              </a:extLst>
            </p:cNvPr>
            <p:cNvSpPr/>
            <p:nvPr/>
          </p:nvSpPr>
          <p:spPr>
            <a:xfrm>
              <a:off x="8634305" y="1932540"/>
              <a:ext cx="768466" cy="823492"/>
            </a:xfrm>
            <a:custGeom>
              <a:avLst/>
              <a:gdLst>
                <a:gd name="connsiteX0" fmla="*/ 670987 w 2029412"/>
                <a:gd name="connsiteY0" fmla="*/ 1643151 h 2174725"/>
                <a:gd name="connsiteX1" fmla="*/ 409715 w 2029412"/>
                <a:gd name="connsiteY1" fmla="*/ 1366869 h 2174725"/>
                <a:gd name="connsiteX2" fmla="*/ 421911 w 2029412"/>
                <a:gd name="connsiteY2" fmla="*/ 0 h 2174725"/>
                <a:gd name="connsiteX3" fmla="*/ 362339 w 2029412"/>
                <a:gd name="connsiteY3" fmla="*/ 7036 h 2174725"/>
                <a:gd name="connsiteX4" fmla="*/ 98253 w 2029412"/>
                <a:gd name="connsiteY4" fmla="*/ 300205 h 2174725"/>
                <a:gd name="connsiteX5" fmla="*/ 166737 w 2029412"/>
                <a:gd name="connsiteY5" fmla="*/ 1900670 h 2174725"/>
                <a:gd name="connsiteX6" fmla="*/ 455215 w 2029412"/>
                <a:gd name="connsiteY6" fmla="*/ 2171323 h 2174725"/>
                <a:gd name="connsiteX7" fmla="*/ 1845537 w 2029412"/>
                <a:gd name="connsiteY7" fmla="*/ 1842506 h 2174725"/>
                <a:gd name="connsiteX8" fmla="*/ 2020500 w 2029412"/>
                <a:gd name="connsiteY8" fmla="*/ 1569038 h 2174725"/>
                <a:gd name="connsiteX9" fmla="*/ 2029413 w 2029412"/>
                <a:gd name="connsiteY9" fmla="*/ 1454116 h 2174725"/>
                <a:gd name="connsiteX10" fmla="*/ 670987 w 2029412"/>
                <a:gd name="connsiteY10" fmla="*/ 1643151 h 2174725"/>
                <a:gd name="connsiteX11" fmla="*/ 670987 w 2029412"/>
                <a:gd name="connsiteY11" fmla="*/ 1643151 h 217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9412" h="2174725">
                  <a:moveTo>
                    <a:pt x="670987" y="1643151"/>
                  </a:moveTo>
                  <a:cubicBezTo>
                    <a:pt x="577173" y="1630486"/>
                    <a:pt x="450993" y="1504775"/>
                    <a:pt x="409715" y="1366869"/>
                  </a:cubicBezTo>
                  <a:cubicBezTo>
                    <a:pt x="276500" y="920315"/>
                    <a:pt x="280721" y="444209"/>
                    <a:pt x="421911" y="0"/>
                  </a:cubicBezTo>
                  <a:cubicBezTo>
                    <a:pt x="402210" y="2345"/>
                    <a:pt x="382040" y="4691"/>
                    <a:pt x="362339" y="7036"/>
                  </a:cubicBezTo>
                  <a:cubicBezTo>
                    <a:pt x="268056" y="21108"/>
                    <a:pt x="140938" y="156200"/>
                    <a:pt x="98253" y="300205"/>
                  </a:cubicBezTo>
                  <a:cubicBezTo>
                    <a:pt x="-53256" y="826970"/>
                    <a:pt x="-28865" y="1388446"/>
                    <a:pt x="166737" y="1900670"/>
                  </a:cubicBezTo>
                  <a:cubicBezTo>
                    <a:pt x="222087" y="2042798"/>
                    <a:pt x="360463" y="2165226"/>
                    <a:pt x="455215" y="2171323"/>
                  </a:cubicBezTo>
                  <a:cubicBezTo>
                    <a:pt x="952429" y="2198998"/>
                    <a:pt x="1407426" y="2054994"/>
                    <a:pt x="1845537" y="1842506"/>
                  </a:cubicBezTo>
                  <a:cubicBezTo>
                    <a:pt x="1928563" y="1799820"/>
                    <a:pt x="2009243" y="1673171"/>
                    <a:pt x="2020500" y="1569038"/>
                  </a:cubicBezTo>
                  <a:cubicBezTo>
                    <a:pt x="2023784" y="1531982"/>
                    <a:pt x="2027067" y="1492111"/>
                    <a:pt x="2029413" y="1454116"/>
                  </a:cubicBezTo>
                  <a:cubicBezTo>
                    <a:pt x="1591771" y="1608440"/>
                    <a:pt x="1143809" y="1702723"/>
                    <a:pt x="670987" y="1643151"/>
                  </a:cubicBezTo>
                  <a:lnTo>
                    <a:pt x="670987" y="1643151"/>
                  </a:lnTo>
                  <a:close/>
                </a:path>
              </a:pathLst>
            </a:custGeom>
            <a:solidFill>
              <a:srgbClr val="FFD400"/>
            </a:solidFill>
            <a:ln w="46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6FF99AB-042C-F89C-5761-9BA245432B2D}"/>
                </a:ext>
              </a:extLst>
            </p:cNvPr>
            <p:cNvSpPr/>
            <p:nvPr/>
          </p:nvSpPr>
          <p:spPr>
            <a:xfrm>
              <a:off x="8794423" y="1779427"/>
              <a:ext cx="730463" cy="703735"/>
            </a:xfrm>
            <a:custGeom>
              <a:avLst/>
              <a:gdLst>
                <a:gd name="connsiteX0" fmla="*/ 1905830 w 1929051"/>
                <a:gd name="connsiteY0" fmla="*/ 587287 h 1858466"/>
                <a:gd name="connsiteX1" fmla="*/ 1844382 w 1929051"/>
                <a:gd name="connsiteY1" fmla="*/ 439999 h 1858466"/>
                <a:gd name="connsiteX2" fmla="*/ 1727583 w 1929051"/>
                <a:gd name="connsiteY2" fmla="*/ 330706 h 1858466"/>
                <a:gd name="connsiteX3" fmla="*/ 337261 w 1929051"/>
                <a:gd name="connsiteY3" fmla="*/ 1888 h 1858466"/>
                <a:gd name="connsiteX4" fmla="*/ 52536 w 1929051"/>
                <a:gd name="connsiteY4" fmla="*/ 255655 h 1858466"/>
                <a:gd name="connsiteX5" fmla="*/ 0 w 1929051"/>
                <a:gd name="connsiteY5" fmla="*/ 404350 h 1858466"/>
                <a:gd name="connsiteX6" fmla="*/ 1352797 w 1929051"/>
                <a:gd name="connsiteY6" fmla="*/ 621060 h 1858466"/>
                <a:gd name="connsiteX7" fmla="*/ 1550744 w 1929051"/>
                <a:gd name="connsiteY7" fmla="*/ 877641 h 1858466"/>
                <a:gd name="connsiteX8" fmla="*/ 1606563 w 1929051"/>
                <a:gd name="connsiteY8" fmla="*/ 1858466 h 1858466"/>
                <a:gd name="connsiteX9" fmla="*/ 1662383 w 1929051"/>
                <a:gd name="connsiteY9" fmla="*/ 1838765 h 1858466"/>
                <a:gd name="connsiteX10" fmla="*/ 1788093 w 1929051"/>
                <a:gd name="connsiteY10" fmla="*/ 1740261 h 1858466"/>
                <a:gd name="connsiteX11" fmla="*/ 1862206 w 1929051"/>
                <a:gd name="connsiteY11" fmla="*/ 1598601 h 1858466"/>
                <a:gd name="connsiteX12" fmla="*/ 1905830 w 1929051"/>
                <a:gd name="connsiteY12" fmla="*/ 587287 h 1858466"/>
                <a:gd name="connsiteX13" fmla="*/ 1905830 w 1929051"/>
                <a:gd name="connsiteY13" fmla="*/ 587287 h 1858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29051" h="1858466">
                  <a:moveTo>
                    <a:pt x="1905830" y="587287"/>
                  </a:moveTo>
                  <a:cubicBezTo>
                    <a:pt x="1895979" y="534282"/>
                    <a:pt x="1874871" y="484092"/>
                    <a:pt x="1844382" y="439999"/>
                  </a:cubicBezTo>
                  <a:cubicBezTo>
                    <a:pt x="1813423" y="395907"/>
                    <a:pt x="1774021" y="358381"/>
                    <a:pt x="1727583" y="330706"/>
                  </a:cubicBezTo>
                  <a:cubicBezTo>
                    <a:pt x="1288065" y="125254"/>
                    <a:pt x="831660" y="-18282"/>
                    <a:pt x="337261" y="1888"/>
                  </a:cubicBezTo>
                  <a:cubicBezTo>
                    <a:pt x="242978" y="6579"/>
                    <a:pt x="106010" y="121501"/>
                    <a:pt x="52536" y="255655"/>
                  </a:cubicBezTo>
                  <a:cubicBezTo>
                    <a:pt x="33304" y="304438"/>
                    <a:pt x="15010" y="354160"/>
                    <a:pt x="0" y="404350"/>
                  </a:cubicBezTo>
                  <a:cubicBezTo>
                    <a:pt x="472353" y="351345"/>
                    <a:pt x="916562" y="454071"/>
                    <a:pt x="1352797" y="621060"/>
                  </a:cubicBezTo>
                  <a:cubicBezTo>
                    <a:pt x="1439106" y="658117"/>
                    <a:pt x="1530105" y="774915"/>
                    <a:pt x="1550744" y="877641"/>
                  </a:cubicBezTo>
                  <a:cubicBezTo>
                    <a:pt x="1611254" y="1200830"/>
                    <a:pt x="1630486" y="1530586"/>
                    <a:pt x="1606563" y="1858466"/>
                  </a:cubicBezTo>
                  <a:lnTo>
                    <a:pt x="1662383" y="1838765"/>
                  </a:lnTo>
                  <a:cubicBezTo>
                    <a:pt x="1710697" y="1815312"/>
                    <a:pt x="1753851" y="1781539"/>
                    <a:pt x="1788093" y="1740261"/>
                  </a:cubicBezTo>
                  <a:cubicBezTo>
                    <a:pt x="1822805" y="1698982"/>
                    <a:pt x="1847665" y="1650668"/>
                    <a:pt x="1862206" y="1598601"/>
                  </a:cubicBezTo>
                  <a:cubicBezTo>
                    <a:pt x="1933036" y="1266031"/>
                    <a:pt x="1947577" y="924079"/>
                    <a:pt x="1905830" y="587287"/>
                  </a:cubicBezTo>
                  <a:lnTo>
                    <a:pt x="1905830" y="587287"/>
                  </a:lnTo>
                  <a:close/>
                </a:path>
              </a:pathLst>
            </a:custGeom>
            <a:solidFill>
              <a:srgbClr val="ED1B2F"/>
            </a:solidFill>
            <a:ln w="46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EF44D8-1F2B-D9CC-B560-E916EA4070EA}"/>
              </a:ext>
            </a:extLst>
          </p:cNvPr>
          <p:cNvSpPr txBox="1"/>
          <p:nvPr/>
        </p:nvSpPr>
        <p:spPr>
          <a:xfrm>
            <a:off x="6758102" y="1340768"/>
            <a:ext cx="50249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SpectraChat</a:t>
            </a:r>
            <a:endParaRPr lang="en-MY" sz="6600" dirty="0"/>
          </a:p>
        </p:txBody>
      </p:sp>
    </p:spTree>
    <p:extLst>
      <p:ext uri="{BB962C8B-B14F-4D97-AF65-F5344CB8AC3E}">
        <p14:creationId xmlns:p14="http://schemas.microsoft.com/office/powerpoint/2010/main" val="213788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" grpId="0" animBg="1"/>
      <p:bldP spid="31" grpId="0" animBg="1"/>
      <p:bldP spid="17" grpId="0" animBg="1"/>
      <p:bldP spid="18" grpId="0" animBg="1"/>
      <p:bldP spid="19" grpId="0" animBg="1"/>
      <p:bldP spid="20" grpId="0" animBg="1"/>
      <p:bldP spid="65" grpId="0"/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9FD5-5D6A-9BD5-551C-14D360C19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4F58C8-32AD-B91E-3EFC-C7A2A4DFB200}"/>
              </a:ext>
            </a:extLst>
          </p:cNvPr>
          <p:cNvGrpSpPr/>
          <p:nvPr/>
        </p:nvGrpSpPr>
        <p:grpSpPr>
          <a:xfrm flipH="1">
            <a:off x="9558012" y="1566543"/>
            <a:ext cx="1943182" cy="4572001"/>
            <a:chOff x="-2405881" y="1494502"/>
            <a:chExt cx="1943182" cy="457200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58BC5CB-3F8A-F314-94E4-E44EEF4F468D}"/>
                </a:ext>
              </a:extLst>
            </p:cNvPr>
            <p:cNvGrpSpPr/>
            <p:nvPr/>
          </p:nvGrpSpPr>
          <p:grpSpPr>
            <a:xfrm>
              <a:off x="-2405881" y="1494502"/>
              <a:ext cx="1943182" cy="4572001"/>
              <a:chOff x="5660103" y="1494502"/>
              <a:chExt cx="1943182" cy="4572001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369601E-F764-411D-2FFC-D339A3C002E9}"/>
                  </a:ext>
                </a:extLst>
              </p:cNvPr>
              <p:cNvSpPr/>
              <p:nvPr/>
            </p:nvSpPr>
            <p:spPr>
              <a:xfrm>
                <a:off x="5660103" y="1494502"/>
                <a:ext cx="1750142" cy="4572000"/>
              </a:xfrm>
              <a:custGeom>
                <a:avLst/>
                <a:gdLst>
                  <a:gd name="connsiteX0" fmla="*/ 875071 w 1750142"/>
                  <a:gd name="connsiteY0" fmla="*/ 0 h 4572000"/>
                  <a:gd name="connsiteX1" fmla="*/ 878689 w 1750142"/>
                  <a:gd name="connsiteY1" fmla="*/ 477 h 4572000"/>
                  <a:gd name="connsiteX2" fmla="*/ 879242 w 1750142"/>
                  <a:gd name="connsiteY2" fmla="*/ 0 h 4572000"/>
                  <a:gd name="connsiteX3" fmla="*/ 1091679 w 1750142"/>
                  <a:gd name="connsiteY3" fmla="*/ 0 h 4572000"/>
                  <a:gd name="connsiteX4" fmla="*/ 1091679 w 1750142"/>
                  <a:gd name="connsiteY4" fmla="*/ 73480 h 4572000"/>
                  <a:gd name="connsiteX5" fmla="*/ 1135290 w 1750142"/>
                  <a:gd name="connsiteY5" fmla="*/ 102774 h 4572000"/>
                  <a:gd name="connsiteX6" fmla="*/ 1750142 w 1750142"/>
                  <a:gd name="connsiteY6" fmla="*/ 2286000 h 4572000"/>
                  <a:gd name="connsiteX7" fmla="*/ 1135290 w 1750142"/>
                  <a:gd name="connsiteY7" fmla="*/ 4469226 h 4572000"/>
                  <a:gd name="connsiteX8" fmla="*/ 1076285 w 1750142"/>
                  <a:gd name="connsiteY8" fmla="*/ 4508860 h 4572000"/>
                  <a:gd name="connsiteX9" fmla="*/ 1076285 w 1750142"/>
                  <a:gd name="connsiteY9" fmla="*/ 4572000 h 4572000"/>
                  <a:gd name="connsiteX10" fmla="*/ 879242 w 1750142"/>
                  <a:gd name="connsiteY10" fmla="*/ 4572000 h 4572000"/>
                  <a:gd name="connsiteX11" fmla="*/ 878691 w 1750142"/>
                  <a:gd name="connsiteY11" fmla="*/ 4571523 h 4572000"/>
                  <a:gd name="connsiteX12" fmla="*/ 875071 w 1750142"/>
                  <a:gd name="connsiteY12" fmla="*/ 4572000 h 4572000"/>
                  <a:gd name="connsiteX13" fmla="*/ 0 w 1750142"/>
                  <a:gd name="connsiteY13" fmla="*/ 2286000 h 4572000"/>
                  <a:gd name="connsiteX14" fmla="*/ 875071 w 1750142"/>
                  <a:gd name="connsiteY14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50142" h="4572000">
                    <a:moveTo>
                      <a:pt x="875071" y="0"/>
                    </a:moveTo>
                    <a:lnTo>
                      <a:pt x="878689" y="477"/>
                    </a:lnTo>
                    <a:lnTo>
                      <a:pt x="879242" y="0"/>
                    </a:lnTo>
                    <a:lnTo>
                      <a:pt x="1091679" y="0"/>
                    </a:lnTo>
                    <a:lnTo>
                      <a:pt x="1091679" y="73480"/>
                    </a:lnTo>
                    <a:lnTo>
                      <a:pt x="1135290" y="102774"/>
                    </a:lnTo>
                    <a:cubicBezTo>
                      <a:pt x="1491504" y="392208"/>
                      <a:pt x="1750142" y="1260200"/>
                      <a:pt x="1750142" y="2286000"/>
                    </a:cubicBezTo>
                    <a:cubicBezTo>
                      <a:pt x="1750142" y="3311800"/>
                      <a:pt x="1491504" y="4179792"/>
                      <a:pt x="1135290" y="4469226"/>
                    </a:cubicBezTo>
                    <a:lnTo>
                      <a:pt x="1076285" y="4508860"/>
                    </a:lnTo>
                    <a:lnTo>
                      <a:pt x="1076285" y="4572000"/>
                    </a:lnTo>
                    <a:lnTo>
                      <a:pt x="879242" y="4572000"/>
                    </a:lnTo>
                    <a:lnTo>
                      <a:pt x="878691" y="4571523"/>
                    </a:lnTo>
                    <a:lnTo>
                      <a:pt x="875071" y="4572000"/>
                    </a:lnTo>
                    <a:cubicBezTo>
                      <a:pt x="391783" y="4572000"/>
                      <a:pt x="0" y="3548523"/>
                      <a:pt x="0" y="2286000"/>
                    </a:cubicBezTo>
                    <a:cubicBezTo>
                      <a:pt x="0" y="1023477"/>
                      <a:pt x="391783" y="0"/>
                      <a:pt x="87507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86EBF71-CCDD-FC54-0F16-4915AFF22657}"/>
                  </a:ext>
                </a:extLst>
              </p:cNvPr>
              <p:cNvSpPr/>
              <p:nvPr/>
            </p:nvSpPr>
            <p:spPr>
              <a:xfrm>
                <a:off x="5853143" y="1494503"/>
                <a:ext cx="1750142" cy="4572000"/>
              </a:xfrm>
              <a:prstGeom prst="ellipse">
                <a:avLst/>
              </a:prstGeom>
              <a:gradFill flip="none" rotWithShape="1">
                <a:gsLst>
                  <a:gs pos="2000">
                    <a:schemeClr val="accent5"/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9AB1186-693F-B601-1C7E-974D9F80D7B6}"/>
                </a:ext>
              </a:extLst>
            </p:cNvPr>
            <p:cNvSpPr/>
            <p:nvPr/>
          </p:nvSpPr>
          <p:spPr>
            <a:xfrm>
              <a:off x="-1924757" y="1943746"/>
              <a:ext cx="1406204" cy="3673514"/>
            </a:xfrm>
            <a:prstGeom prst="ellipse">
              <a:avLst/>
            </a:prstGeom>
            <a:gradFill>
              <a:gsLst>
                <a:gs pos="200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77E2079-DC6C-0007-65DF-BFFAF29009CB}"/>
                </a:ext>
              </a:extLst>
            </p:cNvPr>
            <p:cNvSpPr/>
            <p:nvPr/>
          </p:nvSpPr>
          <p:spPr>
            <a:xfrm>
              <a:off x="-1650857" y="2423226"/>
              <a:ext cx="1049726" cy="2742264"/>
            </a:xfrm>
            <a:prstGeom prst="ellipse">
              <a:avLst/>
            </a:prstGeom>
            <a:gradFill>
              <a:gsLst>
                <a:gs pos="2000">
                  <a:schemeClr val="accent5"/>
                </a:gs>
                <a:gs pos="100000">
                  <a:schemeClr val="accent4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80954-3F2A-ACBB-8E45-8EA58315614F}"/>
                </a:ext>
              </a:extLst>
            </p:cNvPr>
            <p:cNvSpPr/>
            <p:nvPr/>
          </p:nvSpPr>
          <p:spPr>
            <a:xfrm>
              <a:off x="-1463909" y="2786084"/>
              <a:ext cx="771926" cy="2016548"/>
            </a:xfrm>
            <a:prstGeom prst="ellipse">
              <a:avLst/>
            </a:prstGeom>
            <a:gradFill flip="none" rotWithShape="1">
              <a:gsLst>
                <a:gs pos="200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1BAD4A1-B85C-EEE8-2E6A-AC3A5598E17C}"/>
                </a:ext>
              </a:extLst>
            </p:cNvPr>
            <p:cNvSpPr/>
            <p:nvPr/>
          </p:nvSpPr>
          <p:spPr>
            <a:xfrm>
              <a:off x="-1204947" y="3352141"/>
              <a:ext cx="338558" cy="884434"/>
            </a:xfrm>
            <a:prstGeom prst="ellipse">
              <a:avLst/>
            </a:prstGeom>
            <a:gradFill flip="none" rotWithShape="1">
              <a:gsLst>
                <a:gs pos="2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C270D6-B74C-141D-2EE8-BD32B1A532E8}"/>
              </a:ext>
            </a:extLst>
          </p:cNvPr>
          <p:cNvGrpSpPr/>
          <p:nvPr/>
        </p:nvGrpSpPr>
        <p:grpSpPr>
          <a:xfrm flipH="1">
            <a:off x="9925849" y="2894299"/>
            <a:ext cx="100413" cy="252961"/>
            <a:chOff x="8470676" y="2780928"/>
            <a:chExt cx="100413" cy="25296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79D6B0E-66A5-8B85-64CA-E12A6654B883}"/>
                </a:ext>
              </a:extLst>
            </p:cNvPr>
            <p:cNvCxnSpPr/>
            <p:nvPr/>
          </p:nvCxnSpPr>
          <p:spPr>
            <a:xfrm>
              <a:off x="8470676" y="2852936"/>
              <a:ext cx="100413" cy="116042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566026-E8DB-DC49-2F5D-5115014F51FB}"/>
                </a:ext>
              </a:extLst>
            </p:cNvPr>
            <p:cNvCxnSpPr/>
            <p:nvPr/>
          </p:nvCxnSpPr>
          <p:spPr>
            <a:xfrm flipH="1">
              <a:off x="8472311" y="2780928"/>
              <a:ext cx="70373" cy="252961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CB330CF-9B24-EC7C-C20C-C070E88B22A9}"/>
              </a:ext>
            </a:extLst>
          </p:cNvPr>
          <p:cNvGrpSpPr/>
          <p:nvPr/>
        </p:nvGrpSpPr>
        <p:grpSpPr>
          <a:xfrm flipH="1">
            <a:off x="10552641" y="1998103"/>
            <a:ext cx="166511" cy="364066"/>
            <a:chOff x="8415867" y="2714978"/>
            <a:chExt cx="166511" cy="364066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3117F35-8C41-73D5-C0D7-67BAFBE9E875}"/>
                </a:ext>
              </a:extLst>
            </p:cNvPr>
            <p:cNvCxnSpPr>
              <a:cxnSpLocks/>
            </p:cNvCxnSpPr>
            <p:nvPr/>
          </p:nvCxnSpPr>
          <p:spPr>
            <a:xfrm>
              <a:off x="8469489" y="2714978"/>
              <a:ext cx="67734" cy="364066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DF81640-25C6-568D-7EFF-F64CAAB5A9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5867" y="2825044"/>
              <a:ext cx="166511" cy="174978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8C6CA33-6231-8B1C-1A38-BC892FA71AF9}"/>
              </a:ext>
            </a:extLst>
          </p:cNvPr>
          <p:cNvGrpSpPr/>
          <p:nvPr/>
        </p:nvGrpSpPr>
        <p:grpSpPr>
          <a:xfrm flipH="1">
            <a:off x="9967989" y="4537319"/>
            <a:ext cx="110067" cy="222955"/>
            <a:chOff x="3031772" y="4557889"/>
            <a:chExt cx="110067" cy="222955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B541789-52B8-A853-CD05-79056279CE88}"/>
                </a:ext>
              </a:extLst>
            </p:cNvPr>
            <p:cNvCxnSpPr>
              <a:cxnSpLocks/>
            </p:cNvCxnSpPr>
            <p:nvPr/>
          </p:nvCxnSpPr>
          <p:spPr>
            <a:xfrm>
              <a:off x="3062817" y="4557889"/>
              <a:ext cx="47977" cy="222955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F41266D-141A-AC56-ECDC-EA940D8EC3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1772" y="4625622"/>
              <a:ext cx="110067" cy="124178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CF63DD2-D576-3CB1-F367-3C51B982427A}"/>
              </a:ext>
            </a:extLst>
          </p:cNvPr>
          <p:cNvGrpSpPr/>
          <p:nvPr/>
        </p:nvGrpSpPr>
        <p:grpSpPr>
          <a:xfrm flipH="1">
            <a:off x="10564913" y="5295557"/>
            <a:ext cx="172669" cy="370006"/>
            <a:chOff x="2537370" y="5373216"/>
            <a:chExt cx="172669" cy="370006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EEB7866-22D1-BD55-84B4-C08F2728246C}"/>
                </a:ext>
              </a:extLst>
            </p:cNvPr>
            <p:cNvCxnSpPr/>
            <p:nvPr/>
          </p:nvCxnSpPr>
          <p:spPr>
            <a:xfrm flipH="1">
              <a:off x="2588683" y="5373216"/>
              <a:ext cx="92703" cy="370006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60810F9-581A-F2B6-D661-93343D570254}"/>
                </a:ext>
              </a:extLst>
            </p:cNvPr>
            <p:cNvCxnSpPr/>
            <p:nvPr/>
          </p:nvCxnSpPr>
          <p:spPr>
            <a:xfrm>
              <a:off x="2537370" y="5445224"/>
              <a:ext cx="172669" cy="224620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050AC18-686B-5C81-A746-BC077F2AB85B}"/>
              </a:ext>
            </a:extLst>
          </p:cNvPr>
          <p:cNvGrpSpPr/>
          <p:nvPr/>
        </p:nvGrpSpPr>
        <p:grpSpPr>
          <a:xfrm flipH="1">
            <a:off x="7029645" y="1656258"/>
            <a:ext cx="1065514" cy="1065514"/>
            <a:chOff x="4969648" y="1226408"/>
            <a:chExt cx="1307584" cy="1307584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84FCF16-3CA1-9E25-6726-0BD01CD06DF1}"/>
                </a:ext>
              </a:extLst>
            </p:cNvPr>
            <p:cNvSpPr/>
            <p:nvPr/>
          </p:nvSpPr>
          <p:spPr>
            <a:xfrm>
              <a:off x="4969648" y="1226408"/>
              <a:ext cx="1307584" cy="1307584"/>
            </a:xfrm>
            <a:prstGeom prst="ellipse">
              <a:avLst/>
            </a:prstGeom>
            <a:gradFill flip="none" rotWithShape="1">
              <a:gsLst>
                <a:gs pos="2000">
                  <a:schemeClr val="accent5"/>
                </a:gs>
                <a:gs pos="100000">
                  <a:schemeClr val="accent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39E0996-C6DA-80A9-ED8A-DCB12139F8D1}"/>
                </a:ext>
              </a:extLst>
            </p:cNvPr>
            <p:cNvSpPr/>
            <p:nvPr/>
          </p:nvSpPr>
          <p:spPr>
            <a:xfrm>
              <a:off x="5077770" y="1334530"/>
              <a:ext cx="1091340" cy="1091340"/>
            </a:xfrm>
            <a:prstGeom prst="ellipse">
              <a:avLst/>
            </a:prstGeom>
            <a:gradFill>
              <a:gsLst>
                <a:gs pos="2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F860D32-20B9-ECA4-9284-87F31A81B6C1}"/>
              </a:ext>
            </a:extLst>
          </p:cNvPr>
          <p:cNvGrpSpPr/>
          <p:nvPr/>
        </p:nvGrpSpPr>
        <p:grpSpPr>
          <a:xfrm flipH="1">
            <a:off x="7029645" y="3319788"/>
            <a:ext cx="1065514" cy="1065514"/>
            <a:chOff x="4969648" y="1226408"/>
            <a:chExt cx="1307584" cy="1307584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F346F0B-9A6E-BDF7-26C3-FE5ADC6DC770}"/>
                </a:ext>
              </a:extLst>
            </p:cNvPr>
            <p:cNvSpPr/>
            <p:nvPr/>
          </p:nvSpPr>
          <p:spPr>
            <a:xfrm>
              <a:off x="4969648" y="1226408"/>
              <a:ext cx="1307584" cy="1307584"/>
            </a:xfrm>
            <a:prstGeom prst="ellipse">
              <a:avLst/>
            </a:prstGeom>
            <a:gradFill flip="none" rotWithShape="1">
              <a:gsLst>
                <a:gs pos="2000">
                  <a:schemeClr val="accent5"/>
                </a:gs>
                <a:gs pos="100000">
                  <a:schemeClr val="accent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7F3BEF0-62E3-BA66-B932-D0F4CA2DA9AF}"/>
                </a:ext>
              </a:extLst>
            </p:cNvPr>
            <p:cNvSpPr/>
            <p:nvPr/>
          </p:nvSpPr>
          <p:spPr>
            <a:xfrm>
              <a:off x="5077770" y="1334530"/>
              <a:ext cx="1091340" cy="1091340"/>
            </a:xfrm>
            <a:prstGeom prst="ellipse">
              <a:avLst/>
            </a:prstGeom>
            <a:gradFill>
              <a:gsLst>
                <a:gs pos="2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C824850-8C71-6459-9460-C57BFC9EA956}"/>
              </a:ext>
            </a:extLst>
          </p:cNvPr>
          <p:cNvGrpSpPr/>
          <p:nvPr/>
        </p:nvGrpSpPr>
        <p:grpSpPr>
          <a:xfrm flipH="1">
            <a:off x="7029645" y="4983316"/>
            <a:ext cx="1065514" cy="1065514"/>
            <a:chOff x="4969648" y="1226408"/>
            <a:chExt cx="1307584" cy="1307584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65D0CF2-8BE1-D361-265B-3FC0FC7D8379}"/>
                </a:ext>
              </a:extLst>
            </p:cNvPr>
            <p:cNvSpPr/>
            <p:nvPr/>
          </p:nvSpPr>
          <p:spPr>
            <a:xfrm>
              <a:off x="4969648" y="1226408"/>
              <a:ext cx="1307584" cy="1307584"/>
            </a:xfrm>
            <a:prstGeom prst="ellipse">
              <a:avLst/>
            </a:prstGeom>
            <a:gradFill flip="none" rotWithShape="1">
              <a:gsLst>
                <a:gs pos="2000">
                  <a:schemeClr val="accent5"/>
                </a:gs>
                <a:gs pos="100000">
                  <a:schemeClr val="accent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E80E303-2267-712A-7F22-6F76F0A9D184}"/>
                </a:ext>
              </a:extLst>
            </p:cNvPr>
            <p:cNvSpPr/>
            <p:nvPr/>
          </p:nvSpPr>
          <p:spPr>
            <a:xfrm>
              <a:off x="5077770" y="1334530"/>
              <a:ext cx="1091340" cy="1091340"/>
            </a:xfrm>
            <a:prstGeom prst="ellipse">
              <a:avLst/>
            </a:prstGeom>
            <a:gradFill>
              <a:gsLst>
                <a:gs pos="2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D6763F7-3CDA-1EA9-263C-0D201A9950F4}"/>
              </a:ext>
            </a:extLst>
          </p:cNvPr>
          <p:cNvGrpSpPr/>
          <p:nvPr/>
        </p:nvGrpSpPr>
        <p:grpSpPr>
          <a:xfrm flipH="1">
            <a:off x="5534477" y="2488023"/>
            <a:ext cx="1065514" cy="1065514"/>
            <a:chOff x="4969648" y="1226408"/>
            <a:chExt cx="1307584" cy="130758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AB5A004-85CC-594E-53F6-B8A9FE77C4BA}"/>
                </a:ext>
              </a:extLst>
            </p:cNvPr>
            <p:cNvSpPr/>
            <p:nvPr/>
          </p:nvSpPr>
          <p:spPr>
            <a:xfrm>
              <a:off x="4969648" y="1226408"/>
              <a:ext cx="1307584" cy="1307584"/>
            </a:xfrm>
            <a:prstGeom prst="ellipse">
              <a:avLst/>
            </a:prstGeom>
            <a:gradFill flip="none" rotWithShape="1">
              <a:gsLst>
                <a:gs pos="2000">
                  <a:schemeClr val="accent5"/>
                </a:gs>
                <a:gs pos="100000">
                  <a:schemeClr val="accent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BF44D52-463A-D229-A738-CD0A3CA0DBC1}"/>
                </a:ext>
              </a:extLst>
            </p:cNvPr>
            <p:cNvSpPr/>
            <p:nvPr/>
          </p:nvSpPr>
          <p:spPr>
            <a:xfrm>
              <a:off x="5077770" y="1334530"/>
              <a:ext cx="1091340" cy="1091340"/>
            </a:xfrm>
            <a:prstGeom prst="ellipse">
              <a:avLst/>
            </a:prstGeom>
            <a:gradFill>
              <a:gsLst>
                <a:gs pos="2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BBD1BAF-C306-D35C-97A8-FC4A2AD87293}"/>
              </a:ext>
            </a:extLst>
          </p:cNvPr>
          <p:cNvGrpSpPr/>
          <p:nvPr/>
        </p:nvGrpSpPr>
        <p:grpSpPr>
          <a:xfrm flipH="1">
            <a:off x="5534477" y="4151552"/>
            <a:ext cx="1065514" cy="1065514"/>
            <a:chOff x="4969648" y="1226408"/>
            <a:chExt cx="1307584" cy="1307584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F2FF138-C235-36F5-FBCE-3CA974752F2B}"/>
                </a:ext>
              </a:extLst>
            </p:cNvPr>
            <p:cNvSpPr/>
            <p:nvPr/>
          </p:nvSpPr>
          <p:spPr>
            <a:xfrm>
              <a:off x="4969648" y="1226408"/>
              <a:ext cx="1307584" cy="1307584"/>
            </a:xfrm>
            <a:prstGeom prst="ellipse">
              <a:avLst/>
            </a:prstGeom>
            <a:gradFill flip="none" rotWithShape="1">
              <a:gsLst>
                <a:gs pos="2000">
                  <a:schemeClr val="accent5"/>
                </a:gs>
                <a:gs pos="100000">
                  <a:schemeClr val="accent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7369477-567C-5820-1528-2BBD5FEF1DBB}"/>
                </a:ext>
              </a:extLst>
            </p:cNvPr>
            <p:cNvSpPr/>
            <p:nvPr/>
          </p:nvSpPr>
          <p:spPr>
            <a:xfrm>
              <a:off x="5077770" y="1334530"/>
              <a:ext cx="1091340" cy="1091340"/>
            </a:xfrm>
            <a:prstGeom prst="ellipse">
              <a:avLst/>
            </a:prstGeom>
            <a:gradFill>
              <a:gsLst>
                <a:gs pos="2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6F2729EC-AB94-487B-B47D-CF7D309EBF32}"/>
              </a:ext>
            </a:extLst>
          </p:cNvPr>
          <p:cNvSpPr txBox="1"/>
          <p:nvPr/>
        </p:nvSpPr>
        <p:spPr>
          <a:xfrm flipH="1">
            <a:off x="7293738" y="1922179"/>
            <a:ext cx="537327" cy="533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rPr>
              <a:t>01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Black" panose="020B0A02040204020203" pitchFamily="34" charset="0"/>
              <a:ea typeface="Segoe UI Black" panose="020B0A02040204020203" pitchFamily="34" charset="0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ABDE9D-D4D9-E4D3-8CCB-85FAC13BCD0E}"/>
              </a:ext>
            </a:extLst>
          </p:cNvPr>
          <p:cNvSpPr txBox="1"/>
          <p:nvPr/>
        </p:nvSpPr>
        <p:spPr>
          <a:xfrm flipH="1">
            <a:off x="7293738" y="3599361"/>
            <a:ext cx="537327" cy="533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rPr>
              <a:t>03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Black" panose="020B0A02040204020203" pitchFamily="34" charset="0"/>
              <a:ea typeface="Segoe UI Black" panose="020B0A02040204020203" pitchFamily="34" charset="0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EC6081-2C39-C30D-B1AF-6D0EA44FF83D}"/>
              </a:ext>
            </a:extLst>
          </p:cNvPr>
          <p:cNvSpPr txBox="1"/>
          <p:nvPr/>
        </p:nvSpPr>
        <p:spPr>
          <a:xfrm flipH="1">
            <a:off x="7293738" y="5249237"/>
            <a:ext cx="537327" cy="533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rPr>
              <a:t>05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Black" panose="020B0A02040204020203" pitchFamily="34" charset="0"/>
              <a:ea typeface="Segoe UI Black" panose="020B0A02040204020203" pitchFamily="34" charset="0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19C19F6-C499-B7CE-6C3F-A4F37A693833}"/>
              </a:ext>
            </a:extLst>
          </p:cNvPr>
          <p:cNvSpPr txBox="1"/>
          <p:nvPr/>
        </p:nvSpPr>
        <p:spPr>
          <a:xfrm flipH="1">
            <a:off x="5798570" y="2753944"/>
            <a:ext cx="537327" cy="533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rPr>
              <a:t>02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Black" panose="020B0A02040204020203" pitchFamily="34" charset="0"/>
              <a:ea typeface="Segoe UI Black" panose="020B0A02040204020203" pitchFamily="34" charset="0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E59252-A9ED-EBF5-EBA4-0309C9B3FE7A}"/>
              </a:ext>
            </a:extLst>
          </p:cNvPr>
          <p:cNvSpPr txBox="1"/>
          <p:nvPr/>
        </p:nvSpPr>
        <p:spPr>
          <a:xfrm flipH="1">
            <a:off x="5798570" y="4417473"/>
            <a:ext cx="537327" cy="533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rPr>
              <a:t>04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Black" panose="020B0A02040204020203" pitchFamily="34" charset="0"/>
              <a:ea typeface="Segoe UI Black" panose="020B0A02040204020203" pitchFamily="34" charset="0"/>
              <a:cs typeface="+mn-cs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479DC15-933A-18D1-E36D-EAB471266858}"/>
              </a:ext>
            </a:extLst>
          </p:cNvPr>
          <p:cNvCxnSpPr>
            <a:cxnSpLocks/>
          </p:cNvCxnSpPr>
          <p:nvPr/>
        </p:nvCxnSpPr>
        <p:spPr>
          <a:xfrm>
            <a:off x="8239656" y="2189015"/>
            <a:ext cx="2269579" cy="0"/>
          </a:xfrm>
          <a:prstGeom prst="straightConnector1">
            <a:avLst/>
          </a:prstGeom>
          <a:ln w="25400" cap="rnd">
            <a:solidFill>
              <a:schemeClr val="bg1">
                <a:lumMod val="50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B589794-82DE-E9F4-A8E5-A45FF46E457D}"/>
              </a:ext>
            </a:extLst>
          </p:cNvPr>
          <p:cNvCxnSpPr>
            <a:cxnSpLocks/>
          </p:cNvCxnSpPr>
          <p:nvPr/>
        </p:nvCxnSpPr>
        <p:spPr>
          <a:xfrm>
            <a:off x="8239656" y="3852545"/>
            <a:ext cx="1755648" cy="0"/>
          </a:xfrm>
          <a:prstGeom prst="straightConnector1">
            <a:avLst/>
          </a:prstGeom>
          <a:ln w="25400" cap="rnd">
            <a:solidFill>
              <a:schemeClr val="bg1">
                <a:lumMod val="50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F425B6C-597D-A182-0AF8-0A7A2FCE410F}"/>
              </a:ext>
            </a:extLst>
          </p:cNvPr>
          <p:cNvCxnSpPr>
            <a:cxnSpLocks/>
          </p:cNvCxnSpPr>
          <p:nvPr/>
        </p:nvCxnSpPr>
        <p:spPr>
          <a:xfrm>
            <a:off x="6715656" y="2993687"/>
            <a:ext cx="3279648" cy="0"/>
          </a:xfrm>
          <a:prstGeom prst="straightConnector1">
            <a:avLst/>
          </a:prstGeom>
          <a:ln w="25400" cap="rnd">
            <a:solidFill>
              <a:schemeClr val="bg1">
                <a:lumMod val="50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11455FD-EF48-174C-699F-F966E1F707B3}"/>
              </a:ext>
            </a:extLst>
          </p:cNvPr>
          <p:cNvCxnSpPr>
            <a:cxnSpLocks/>
          </p:cNvCxnSpPr>
          <p:nvPr/>
        </p:nvCxnSpPr>
        <p:spPr>
          <a:xfrm>
            <a:off x="6715656" y="4651799"/>
            <a:ext cx="3279648" cy="0"/>
          </a:xfrm>
          <a:prstGeom prst="straightConnector1">
            <a:avLst/>
          </a:prstGeom>
          <a:ln w="25400" cap="rnd">
            <a:solidFill>
              <a:schemeClr val="bg1">
                <a:lumMod val="50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11BF293-20E2-0575-7174-B5FF3337E972}"/>
              </a:ext>
            </a:extLst>
          </p:cNvPr>
          <p:cNvCxnSpPr>
            <a:cxnSpLocks/>
          </p:cNvCxnSpPr>
          <p:nvPr/>
        </p:nvCxnSpPr>
        <p:spPr>
          <a:xfrm>
            <a:off x="8239656" y="5516073"/>
            <a:ext cx="2242946" cy="0"/>
          </a:xfrm>
          <a:prstGeom prst="straightConnector1">
            <a:avLst/>
          </a:prstGeom>
          <a:ln w="25400" cap="rnd">
            <a:solidFill>
              <a:schemeClr val="bg1">
                <a:lumMod val="50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3499223-74F8-D13B-734D-77B6FAA47D7F}"/>
              </a:ext>
            </a:extLst>
          </p:cNvPr>
          <p:cNvGrpSpPr/>
          <p:nvPr/>
        </p:nvGrpSpPr>
        <p:grpSpPr>
          <a:xfrm flipH="1">
            <a:off x="3430115" y="1355293"/>
            <a:ext cx="2736129" cy="825910"/>
            <a:chOff x="1600938" y="1860656"/>
            <a:chExt cx="2637451" cy="82591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F78A789-1F52-029C-E8DE-7E663E1664E8}"/>
                </a:ext>
              </a:extLst>
            </p:cNvPr>
            <p:cNvSpPr/>
            <p:nvPr/>
          </p:nvSpPr>
          <p:spPr>
            <a:xfrm>
              <a:off x="1600938" y="2217056"/>
              <a:ext cx="2633175" cy="46951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/>
                <a:t>Digital communication leaks endanger journalists, activists, and whistleblowers worldwide.</a:t>
              </a:r>
              <a:endPara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2EB7961-F6F5-BDD9-A539-0D83D89558F2}"/>
                </a:ext>
              </a:extLst>
            </p:cNvPr>
            <p:cNvSpPr txBox="1"/>
            <p:nvPr/>
          </p:nvSpPr>
          <p:spPr>
            <a:xfrm>
              <a:off x="1600939" y="1860656"/>
              <a:ext cx="2637450" cy="2849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Open Sans" panose="020B0606030504020204" pitchFamily="34" charset="0"/>
                  <a:cs typeface="Segoe UI Light" panose="020B0502040204020203" pitchFamily="34" charset="0"/>
                </a:rPr>
                <a:t>Privacy Breaches Threaten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B315BF8-5845-627A-CFD0-58D5AFD472ED}"/>
              </a:ext>
            </a:extLst>
          </p:cNvPr>
          <p:cNvGrpSpPr/>
          <p:nvPr/>
        </p:nvGrpSpPr>
        <p:grpSpPr>
          <a:xfrm flipH="1">
            <a:off x="2566019" y="5483410"/>
            <a:ext cx="3600225" cy="825910"/>
            <a:chOff x="1600938" y="1860656"/>
            <a:chExt cx="2637451" cy="8259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F9ED055-467F-4C08-BA4A-A8F4DF844DA5}"/>
                </a:ext>
              </a:extLst>
            </p:cNvPr>
            <p:cNvSpPr/>
            <p:nvPr/>
          </p:nvSpPr>
          <p:spPr>
            <a:xfrm>
              <a:off x="1600938" y="2217056"/>
              <a:ext cx="2633175" cy="46951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MY" sz="1100" dirty="0"/>
                <a:t>Blockchain offers pseudonymity but reveals transactions publicly; Zero-Knowledge Proofs enable anonymous verification (Ben-Sasson et al., 2014).</a:t>
              </a:r>
              <a:endPara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7583F0-EF4B-14D7-8465-4CCC03CA65A9}"/>
                </a:ext>
              </a:extLst>
            </p:cNvPr>
            <p:cNvSpPr txBox="1"/>
            <p:nvPr/>
          </p:nvSpPr>
          <p:spPr>
            <a:xfrm>
              <a:off x="1600939" y="1860656"/>
              <a:ext cx="2637450" cy="2849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Open Sans" panose="020B0606030504020204" pitchFamily="34" charset="0"/>
                  <a:cs typeface="Segoe UI Light" panose="020B0502040204020203" pitchFamily="34" charset="0"/>
                </a:rPr>
                <a:t>Blockchain &amp; ZKPs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65B33B8-F40C-1454-7827-CF7F280B3FD7}"/>
              </a:ext>
            </a:extLst>
          </p:cNvPr>
          <p:cNvGrpSpPr/>
          <p:nvPr/>
        </p:nvGrpSpPr>
        <p:grpSpPr>
          <a:xfrm flipH="1">
            <a:off x="311392" y="2502638"/>
            <a:ext cx="2700117" cy="825910"/>
            <a:chOff x="1600938" y="1860656"/>
            <a:chExt cx="2637451" cy="8259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F08248-4060-0F16-2553-69D1EDF2BF61}"/>
                </a:ext>
              </a:extLst>
            </p:cNvPr>
            <p:cNvSpPr/>
            <p:nvPr/>
          </p:nvSpPr>
          <p:spPr>
            <a:xfrm>
              <a:off x="1600938" y="2217056"/>
              <a:ext cx="2633175" cy="46951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/>
                <a:t>Metadata exposure has led to arrests, harassment, and deaths of journalists </a:t>
              </a:r>
              <a:r>
                <a:rPr lang="en-MY" sz="1100" dirty="0"/>
                <a:t>(Reporters Without Borders, 2023).</a:t>
              </a:r>
              <a:endPara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AC2728-0E62-605A-8B42-6E572180424B}"/>
                </a:ext>
              </a:extLst>
            </p:cNvPr>
            <p:cNvSpPr txBox="1"/>
            <p:nvPr/>
          </p:nvSpPr>
          <p:spPr>
            <a:xfrm>
              <a:off x="1600939" y="1860656"/>
              <a:ext cx="2637450" cy="2849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Open Sans" panose="020B0606030504020204" pitchFamily="34" charset="0"/>
                  <a:cs typeface="Segoe UI Light" panose="020B0502040204020203" pitchFamily="34" charset="0"/>
                </a:rPr>
                <a:t>Metadata Exposure Risks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77BD9F-907A-B832-B908-C2ADE2CD63C9}"/>
              </a:ext>
            </a:extLst>
          </p:cNvPr>
          <p:cNvGrpSpPr/>
          <p:nvPr/>
        </p:nvGrpSpPr>
        <p:grpSpPr>
          <a:xfrm flipH="1">
            <a:off x="223607" y="4271354"/>
            <a:ext cx="2681825" cy="825910"/>
            <a:chOff x="1600938" y="1860656"/>
            <a:chExt cx="2637451" cy="82591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48AACCE-D6D1-9737-7EEF-344025C63A3A}"/>
                </a:ext>
              </a:extLst>
            </p:cNvPr>
            <p:cNvSpPr/>
            <p:nvPr/>
          </p:nvSpPr>
          <p:spPr>
            <a:xfrm>
              <a:off x="1600938" y="2217056"/>
              <a:ext cx="2633175" cy="46951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/>
                <a:t>IP addresses and device metadata enable user tracking, undermining privacy protections </a:t>
              </a:r>
              <a:r>
                <a:rPr lang="en-MY" sz="1100" dirty="0"/>
                <a:t>(Marlinspike, 2016).</a:t>
              </a:r>
              <a:endPara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D77946-E085-893E-8977-373C6EA471B8}"/>
                </a:ext>
              </a:extLst>
            </p:cNvPr>
            <p:cNvSpPr txBox="1"/>
            <p:nvPr/>
          </p:nvSpPr>
          <p:spPr>
            <a:xfrm>
              <a:off x="1600939" y="1860656"/>
              <a:ext cx="2637450" cy="2849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Open Sans" panose="020B0606030504020204" pitchFamily="34" charset="0"/>
                  <a:cs typeface="Segoe UI Light" panose="020B0502040204020203" pitchFamily="34" charset="0"/>
                </a:rPr>
                <a:t>Tracking via Metadata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826F5D-CC87-7B71-CEC2-2112CBD32276}"/>
              </a:ext>
            </a:extLst>
          </p:cNvPr>
          <p:cNvGrpSpPr/>
          <p:nvPr/>
        </p:nvGrpSpPr>
        <p:grpSpPr>
          <a:xfrm flipH="1">
            <a:off x="2699314" y="3439590"/>
            <a:ext cx="2681825" cy="825910"/>
            <a:chOff x="1600938" y="1860656"/>
            <a:chExt cx="2637451" cy="82591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2261E29-DE96-1A05-F161-D9195B5BEE4D}"/>
                </a:ext>
              </a:extLst>
            </p:cNvPr>
            <p:cNvSpPr/>
            <p:nvPr/>
          </p:nvSpPr>
          <p:spPr>
            <a:xfrm>
              <a:off x="1600938" y="2217056"/>
              <a:ext cx="2633175" cy="46951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MY" sz="1100" dirty="0"/>
                <a:t>Popular messaging apps require personal info, risking identity exposure despite encryption (Arora &amp; Kumar, 2023).</a:t>
              </a:r>
              <a:endPara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6C4057-6245-3406-98B0-9A2DCCF0B481}"/>
                </a:ext>
              </a:extLst>
            </p:cNvPr>
            <p:cNvSpPr txBox="1"/>
            <p:nvPr/>
          </p:nvSpPr>
          <p:spPr>
            <a:xfrm>
              <a:off x="1600939" y="1860656"/>
              <a:ext cx="2637450" cy="28492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Open Sans" panose="020B0606030504020204" pitchFamily="34" charset="0"/>
                  <a:cs typeface="Segoe UI Light" panose="020B0502040204020203" pitchFamily="34" charset="0"/>
                </a:rPr>
                <a:t>Personal Data Leakage</a:t>
              </a:r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3C3368-7439-EB0C-4386-07A00D211655}"/>
              </a:ext>
            </a:extLst>
          </p:cNvPr>
          <p:cNvCxnSpPr>
            <a:cxnSpLocks/>
          </p:cNvCxnSpPr>
          <p:nvPr/>
        </p:nvCxnSpPr>
        <p:spPr>
          <a:xfrm flipH="1">
            <a:off x="2735786" y="2991087"/>
            <a:ext cx="26028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236C07D-E2C8-FFF9-5FAC-6FD9F45479A1}"/>
              </a:ext>
            </a:extLst>
          </p:cNvPr>
          <p:cNvCxnSpPr>
            <a:cxnSpLocks/>
          </p:cNvCxnSpPr>
          <p:nvPr/>
        </p:nvCxnSpPr>
        <p:spPr>
          <a:xfrm flipH="1">
            <a:off x="3181629" y="4684309"/>
            <a:ext cx="215704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087ACB3-4170-C129-A047-7D07F35AE0D5}"/>
              </a:ext>
            </a:extLst>
          </p:cNvPr>
          <p:cNvCxnSpPr>
            <a:cxnSpLocks/>
          </p:cNvCxnSpPr>
          <p:nvPr/>
        </p:nvCxnSpPr>
        <p:spPr>
          <a:xfrm flipH="1">
            <a:off x="5620029" y="3852545"/>
            <a:ext cx="120747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394C890-8977-DB55-C0E1-350A285E203C}"/>
              </a:ext>
            </a:extLst>
          </p:cNvPr>
          <p:cNvCxnSpPr>
            <a:cxnSpLocks/>
          </p:cNvCxnSpPr>
          <p:nvPr/>
        </p:nvCxnSpPr>
        <p:spPr>
          <a:xfrm flipH="1">
            <a:off x="6405476" y="1754114"/>
            <a:ext cx="6916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7289E56-5AFF-3282-2260-4D8771584D10}"/>
              </a:ext>
            </a:extLst>
          </p:cNvPr>
          <p:cNvCxnSpPr>
            <a:cxnSpLocks/>
          </p:cNvCxnSpPr>
          <p:nvPr/>
        </p:nvCxnSpPr>
        <p:spPr>
          <a:xfrm flipH="1">
            <a:off x="6405476" y="5986145"/>
            <a:ext cx="6916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48333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4527-3921-8CFD-AB7F-2CAF8307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350983"/>
            <a:ext cx="10969943" cy="558394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Problem (</a:t>
            </a:r>
            <a:r>
              <a:rPr lang="en-US" dirty="0"/>
              <a:t>Why Current “Secure” Chats Fall Short)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68CE16-1C1D-75EF-1CB9-3BA44E53F347}"/>
              </a:ext>
            </a:extLst>
          </p:cNvPr>
          <p:cNvGrpSpPr/>
          <p:nvPr/>
        </p:nvGrpSpPr>
        <p:grpSpPr>
          <a:xfrm>
            <a:off x="609441" y="2760493"/>
            <a:ext cx="2057094" cy="2057094"/>
            <a:chOff x="951577" y="2472461"/>
            <a:chExt cx="2057094" cy="2057094"/>
          </a:xfrm>
        </p:grpSpPr>
        <p:sp>
          <p:nvSpPr>
            <p:cNvPr id="5" name="Circle: Hollow 4">
              <a:extLst>
                <a:ext uri="{FF2B5EF4-FFF2-40B4-BE49-F238E27FC236}">
                  <a16:creationId xmlns:a16="http://schemas.microsoft.com/office/drawing/2014/main" id="{2C955783-603A-E0E7-AD3F-7C91FED047D1}"/>
                </a:ext>
              </a:extLst>
            </p:cNvPr>
            <p:cNvSpPr/>
            <p:nvPr/>
          </p:nvSpPr>
          <p:spPr>
            <a:xfrm>
              <a:off x="1295706" y="2816590"/>
              <a:ext cx="1368836" cy="1368836"/>
            </a:xfrm>
            <a:prstGeom prst="donut">
              <a:avLst>
                <a:gd name="adj" fmla="val 1597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" name="Circle: Hollow 5">
              <a:extLst>
                <a:ext uri="{FF2B5EF4-FFF2-40B4-BE49-F238E27FC236}">
                  <a16:creationId xmlns:a16="http://schemas.microsoft.com/office/drawing/2014/main" id="{AD31DFF1-19C7-381B-ECDB-DEBC9C52E60E}"/>
                </a:ext>
              </a:extLst>
            </p:cNvPr>
            <p:cNvSpPr/>
            <p:nvPr/>
          </p:nvSpPr>
          <p:spPr>
            <a:xfrm>
              <a:off x="951577" y="2472461"/>
              <a:ext cx="2057094" cy="2057094"/>
            </a:xfrm>
            <a:prstGeom prst="donut">
              <a:avLst>
                <a:gd name="adj" fmla="val 894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157B3B7-1812-18FE-51FE-180BE7BB48BA}"/>
                </a:ext>
              </a:extLst>
            </p:cNvPr>
            <p:cNvSpPr/>
            <p:nvPr/>
          </p:nvSpPr>
          <p:spPr>
            <a:xfrm>
              <a:off x="1664768" y="3185652"/>
              <a:ext cx="630712" cy="6307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420D73B-7225-6E7B-5E16-F8762B099066}"/>
              </a:ext>
            </a:extLst>
          </p:cNvPr>
          <p:cNvSpPr/>
          <p:nvPr/>
        </p:nvSpPr>
        <p:spPr>
          <a:xfrm>
            <a:off x="4086614" y="1196752"/>
            <a:ext cx="4128286" cy="5184576"/>
          </a:xfrm>
          <a:prstGeom prst="roundRect">
            <a:avLst>
              <a:gd name="adj" fmla="val 423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A92193C-51BA-8270-CC9C-B7DE46681255}"/>
              </a:ext>
            </a:extLst>
          </p:cNvPr>
          <p:cNvSpPr/>
          <p:nvPr/>
        </p:nvSpPr>
        <p:spPr>
          <a:xfrm>
            <a:off x="8402320" y="1196752"/>
            <a:ext cx="3177064" cy="1624033"/>
          </a:xfrm>
          <a:prstGeom prst="roundRect">
            <a:avLst>
              <a:gd name="adj" fmla="val 95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4710096-75B2-45CC-3C93-C5AE8D5DF151}"/>
              </a:ext>
            </a:extLst>
          </p:cNvPr>
          <p:cNvSpPr/>
          <p:nvPr/>
        </p:nvSpPr>
        <p:spPr>
          <a:xfrm>
            <a:off x="8402320" y="4757102"/>
            <a:ext cx="3177064" cy="1624033"/>
          </a:xfrm>
          <a:prstGeom prst="roundRect">
            <a:avLst>
              <a:gd name="adj" fmla="val 954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12D9A20-087C-5EEE-F05E-F2E5A2D541B9}"/>
              </a:ext>
            </a:extLst>
          </p:cNvPr>
          <p:cNvGrpSpPr/>
          <p:nvPr/>
        </p:nvGrpSpPr>
        <p:grpSpPr>
          <a:xfrm>
            <a:off x="4988559" y="1458797"/>
            <a:ext cx="2846225" cy="4688003"/>
            <a:chOff x="4578489" y="1458797"/>
            <a:chExt cx="3368056" cy="4688003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A343B69-0EB0-3BF6-E8B1-DA526C375418}"/>
                </a:ext>
              </a:extLst>
            </p:cNvPr>
            <p:cNvGrpSpPr/>
            <p:nvPr/>
          </p:nvGrpSpPr>
          <p:grpSpPr>
            <a:xfrm>
              <a:off x="4621677" y="2924944"/>
              <a:ext cx="3281680" cy="1728192"/>
              <a:chOff x="4006180" y="2924944"/>
              <a:chExt cx="4104456" cy="1728192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71B3C15-3A66-AB6E-4BF5-E74B50219BE6}"/>
                  </a:ext>
                </a:extLst>
              </p:cNvPr>
              <p:cNvCxnSpPr/>
              <p:nvPr/>
            </p:nvCxnSpPr>
            <p:spPr>
              <a:xfrm>
                <a:off x="4006180" y="2924944"/>
                <a:ext cx="4104456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0446CD3E-4594-F570-44EE-74D0D6579AEC}"/>
                  </a:ext>
                </a:extLst>
              </p:cNvPr>
              <p:cNvCxnSpPr/>
              <p:nvPr/>
            </p:nvCxnSpPr>
            <p:spPr>
              <a:xfrm>
                <a:off x="4006180" y="4653136"/>
                <a:ext cx="4104456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11DB423-4EAE-AC57-9153-F39957D2A9B0}"/>
                </a:ext>
              </a:extLst>
            </p:cNvPr>
            <p:cNvGrpSpPr/>
            <p:nvPr/>
          </p:nvGrpSpPr>
          <p:grpSpPr>
            <a:xfrm>
              <a:off x="4578489" y="1458797"/>
              <a:ext cx="3368056" cy="1213283"/>
              <a:chOff x="4664899" y="1507631"/>
              <a:chExt cx="2601150" cy="121328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070175D-8115-7145-1937-09C1D7C73BF1}"/>
                  </a:ext>
                </a:extLst>
              </p:cNvPr>
              <p:cNvSpPr/>
              <p:nvPr/>
            </p:nvSpPr>
            <p:spPr>
              <a:xfrm>
                <a:off x="4664899" y="1507631"/>
                <a:ext cx="2601139" cy="331937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Personal Data Exposure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9058BF3-5994-2B12-2DE7-091F3E26AB8F}"/>
                  </a:ext>
                </a:extLst>
              </p:cNvPr>
              <p:cNvSpPr/>
              <p:nvPr/>
            </p:nvSpPr>
            <p:spPr>
              <a:xfrm>
                <a:off x="4664900" y="1958915"/>
                <a:ext cx="2601149" cy="761999"/>
              </a:xfrm>
              <a:prstGeom prst="rect">
                <a:avLst/>
              </a:prstGeom>
            </p:spPr>
            <p:txBody>
              <a:bodyPr wrap="square" lIns="0" tIns="0" rIns="0" bIns="0" anchor="t">
                <a:noAutofit/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This issue highlights how current chat apps require users to provide personal details during registration, risking exposure of sensitive information.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1F1C6AA-CBE3-EF8C-22FE-8200A16F4EDB}"/>
                </a:ext>
              </a:extLst>
            </p:cNvPr>
            <p:cNvGrpSpPr/>
            <p:nvPr/>
          </p:nvGrpSpPr>
          <p:grpSpPr>
            <a:xfrm>
              <a:off x="4578489" y="3185997"/>
              <a:ext cx="3368056" cy="1213283"/>
              <a:chOff x="4664899" y="1507631"/>
              <a:chExt cx="2601150" cy="1213283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D75A1DD-C139-43C3-76B9-F6A2368E4D53}"/>
                  </a:ext>
                </a:extLst>
              </p:cNvPr>
              <p:cNvSpPr/>
              <p:nvPr/>
            </p:nvSpPr>
            <p:spPr>
              <a:xfrm>
                <a:off x="4664899" y="1507631"/>
                <a:ext cx="2601139" cy="331937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Metadata Tracking Risks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2CF1C14-4830-C119-65AD-D98B7FD145E3}"/>
                  </a:ext>
                </a:extLst>
              </p:cNvPr>
              <p:cNvSpPr/>
              <p:nvPr/>
            </p:nvSpPr>
            <p:spPr>
              <a:xfrm>
                <a:off x="4664900" y="1958915"/>
                <a:ext cx="2601149" cy="761999"/>
              </a:xfrm>
              <a:prstGeom prst="rect">
                <a:avLst/>
              </a:prstGeom>
            </p:spPr>
            <p:txBody>
              <a:bodyPr wrap="square" lIns="0" tIns="0" rIns="0" bIns="0" anchor="t">
                <a:noAutofit/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Despite message encryption, metadata like IP addresses and device information can be tracked, enabling third parties to monitor user behavior and location.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7E0A3BE-DCE0-66EF-6A49-2F8901D3E0B4}"/>
                </a:ext>
              </a:extLst>
            </p:cNvPr>
            <p:cNvGrpSpPr/>
            <p:nvPr/>
          </p:nvGrpSpPr>
          <p:grpSpPr>
            <a:xfrm>
              <a:off x="4578489" y="4933517"/>
              <a:ext cx="3368056" cy="1213283"/>
              <a:chOff x="4664899" y="1507631"/>
              <a:chExt cx="2601150" cy="1213283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421436F-9BF7-1574-5A41-48F41673C6C7}"/>
                  </a:ext>
                </a:extLst>
              </p:cNvPr>
              <p:cNvSpPr/>
              <p:nvPr/>
            </p:nvSpPr>
            <p:spPr>
              <a:xfrm>
                <a:off x="4664899" y="1507631"/>
                <a:ext cx="2601139" cy="331937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Blockchain Transparency Issues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BA44E280-25F8-C206-0016-52B358F1B817}"/>
                  </a:ext>
                </a:extLst>
              </p:cNvPr>
              <p:cNvSpPr/>
              <p:nvPr/>
            </p:nvSpPr>
            <p:spPr>
              <a:xfrm>
                <a:off x="4664900" y="1958915"/>
                <a:ext cx="2601149" cy="761999"/>
              </a:xfrm>
              <a:prstGeom prst="rect">
                <a:avLst/>
              </a:prstGeom>
            </p:spPr>
            <p:txBody>
              <a:bodyPr wrap="square" lIns="0" tIns="0" rIns="0" bIns="0" anchor="t">
                <a:noAutofit/>
              </a:bodyPr>
              <a:lstStyle/>
              <a:p>
                <a:pPr marL="0" marR="0" lvl="0" indent="0" algn="l" defTabSz="121898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Blockchains offer pseudonymity but not full anonymity, as all transaction records are publicly visible, risking user deanonymization.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12456221-0F01-E9EB-E75B-CB5DA22D2A7B}"/>
              </a:ext>
            </a:extLst>
          </p:cNvPr>
          <p:cNvSpPr/>
          <p:nvPr/>
        </p:nvSpPr>
        <p:spPr>
          <a:xfrm>
            <a:off x="9692640" y="1627769"/>
            <a:ext cx="1615440" cy="7619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This is a sample text. Insert your desired text here. 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F7E152D-DF1F-865A-E37F-652034D5D8F0}"/>
              </a:ext>
            </a:extLst>
          </p:cNvPr>
          <p:cNvSpPr/>
          <p:nvPr/>
        </p:nvSpPr>
        <p:spPr>
          <a:xfrm>
            <a:off x="9692640" y="5188119"/>
            <a:ext cx="1615440" cy="7619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This is a sample text. Insert your desired text here. 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6BE9046-FF71-9FDD-7B04-B99315DAD751}"/>
              </a:ext>
            </a:extLst>
          </p:cNvPr>
          <p:cNvCxnSpPr>
            <a:cxnSpLocks/>
          </p:cNvCxnSpPr>
          <p:nvPr/>
        </p:nvCxnSpPr>
        <p:spPr>
          <a:xfrm flipV="1">
            <a:off x="2399071" y="2310581"/>
            <a:ext cx="1347019" cy="9144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3DA1B5A-1606-7428-638A-F6B5BD54E49E}"/>
              </a:ext>
            </a:extLst>
          </p:cNvPr>
          <p:cNvCxnSpPr>
            <a:cxnSpLocks/>
          </p:cNvCxnSpPr>
          <p:nvPr/>
        </p:nvCxnSpPr>
        <p:spPr>
          <a:xfrm flipH="1" flipV="1">
            <a:off x="1651819" y="3805084"/>
            <a:ext cx="2094271" cy="1573161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E336C0-2722-1341-2C55-E02E4B0D2AD4}"/>
              </a:ext>
            </a:extLst>
          </p:cNvPr>
          <p:cNvCxnSpPr>
            <a:cxnSpLocks/>
          </p:cNvCxnSpPr>
          <p:nvPr/>
        </p:nvCxnSpPr>
        <p:spPr>
          <a:xfrm>
            <a:off x="2204720" y="3788944"/>
            <a:ext cx="186583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Graphic 87" descr="Target outline">
            <a:extLst>
              <a:ext uri="{FF2B5EF4-FFF2-40B4-BE49-F238E27FC236}">
                <a16:creationId xmlns:a16="http://schemas.microsoft.com/office/drawing/2014/main" id="{3B769182-4237-FF0C-7691-43DFB13EE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2693" y="3558041"/>
            <a:ext cx="437878" cy="437878"/>
          </a:xfrm>
          <a:prstGeom prst="rect">
            <a:avLst/>
          </a:prstGeom>
        </p:spPr>
      </p:pic>
      <p:pic>
        <p:nvPicPr>
          <p:cNvPr id="90" name="Graphic 89" descr="Bank outline">
            <a:extLst>
              <a:ext uri="{FF2B5EF4-FFF2-40B4-BE49-F238E27FC236}">
                <a16:creationId xmlns:a16="http://schemas.microsoft.com/office/drawing/2014/main" id="{09C31018-9EED-11DB-4221-579F554C6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78864" y="1651744"/>
            <a:ext cx="714048" cy="714048"/>
          </a:xfrm>
          <a:prstGeom prst="rect">
            <a:avLst/>
          </a:prstGeom>
        </p:spPr>
      </p:pic>
      <p:pic>
        <p:nvPicPr>
          <p:cNvPr id="92" name="Graphic 91" descr="Board Of Directors outline">
            <a:extLst>
              <a:ext uri="{FF2B5EF4-FFF2-40B4-BE49-F238E27FC236}">
                <a16:creationId xmlns:a16="http://schemas.microsoft.com/office/drawing/2014/main" id="{E43FC3A8-2E2C-80FD-6BA0-11FE45E295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78864" y="3431920"/>
            <a:ext cx="714048" cy="714048"/>
          </a:xfrm>
          <a:prstGeom prst="rect">
            <a:avLst/>
          </a:prstGeom>
        </p:spPr>
      </p:pic>
      <p:pic>
        <p:nvPicPr>
          <p:cNvPr id="94" name="Graphic 93" descr="Boardroom outline">
            <a:extLst>
              <a:ext uri="{FF2B5EF4-FFF2-40B4-BE49-F238E27FC236}">
                <a16:creationId xmlns:a16="http://schemas.microsoft.com/office/drawing/2014/main" id="{8D9BA537-7446-AC94-3C33-D357F0BB66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78864" y="5212094"/>
            <a:ext cx="714048" cy="714048"/>
          </a:xfrm>
          <a:prstGeom prst="rect">
            <a:avLst/>
          </a:prstGeom>
        </p:spPr>
      </p:pic>
      <p:sp>
        <p:nvSpPr>
          <p:cNvPr id="69" name="Oval 68">
            <a:extLst>
              <a:ext uri="{FF2B5EF4-FFF2-40B4-BE49-F238E27FC236}">
                <a16:creationId xmlns:a16="http://schemas.microsoft.com/office/drawing/2014/main" id="{12EB1BB5-7BF5-3169-06F0-6388B44D9C6F}"/>
              </a:ext>
            </a:extLst>
          </p:cNvPr>
          <p:cNvSpPr/>
          <p:nvPr/>
        </p:nvSpPr>
        <p:spPr>
          <a:xfrm>
            <a:off x="3618408" y="1537052"/>
            <a:ext cx="943432" cy="94343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BBF4568-FC36-DD47-BE04-A276257A3984}"/>
              </a:ext>
            </a:extLst>
          </p:cNvPr>
          <p:cNvSpPr/>
          <p:nvPr/>
        </p:nvSpPr>
        <p:spPr>
          <a:xfrm>
            <a:off x="3618408" y="3317228"/>
            <a:ext cx="943432" cy="94343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167F672-0F91-EC15-CEEE-CD7F2B72BFDB}"/>
              </a:ext>
            </a:extLst>
          </p:cNvPr>
          <p:cNvSpPr/>
          <p:nvPr/>
        </p:nvSpPr>
        <p:spPr>
          <a:xfrm>
            <a:off x="3618408" y="5097402"/>
            <a:ext cx="943432" cy="943432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17FD22E-7A3C-4897-92FF-8839ABB435DA}"/>
              </a:ext>
            </a:extLst>
          </p:cNvPr>
          <p:cNvSpPr txBox="1"/>
          <p:nvPr/>
        </p:nvSpPr>
        <p:spPr>
          <a:xfrm>
            <a:off x="3831079" y="1777936"/>
            <a:ext cx="518091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Segoe UI Black" panose="020B0A02040204020203" pitchFamily="34" charset="0"/>
                <a:cs typeface="+mn-cs"/>
              </a:rPr>
              <a:t>01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2065A87-EE26-9C9D-EEA7-BC21CABF13FE}"/>
              </a:ext>
            </a:extLst>
          </p:cNvPr>
          <p:cNvSpPr txBox="1"/>
          <p:nvPr/>
        </p:nvSpPr>
        <p:spPr>
          <a:xfrm>
            <a:off x="3831079" y="3558112"/>
            <a:ext cx="518091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Segoe UI Black" panose="020B0A02040204020203" pitchFamily="34" charset="0"/>
                <a:cs typeface="+mn-cs"/>
              </a:rPr>
              <a:t>02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E7B5636-20FD-16BF-1FC2-D68438674C22}"/>
              </a:ext>
            </a:extLst>
          </p:cNvPr>
          <p:cNvSpPr txBox="1"/>
          <p:nvPr/>
        </p:nvSpPr>
        <p:spPr>
          <a:xfrm>
            <a:off x="3831079" y="5338286"/>
            <a:ext cx="518091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Segoe UI Black" panose="020B0A02040204020203" pitchFamily="34" charset="0"/>
                <a:cs typeface="+mn-cs"/>
              </a:rPr>
              <a:t>03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0A17AA-451C-85BB-2402-593FFD10018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106" y="941751"/>
            <a:ext cx="3886130" cy="2236857"/>
          </a:xfrm>
          <a:prstGeom prst="rect">
            <a:avLst/>
          </a:prstGeom>
        </p:spPr>
      </p:pic>
      <p:pic>
        <p:nvPicPr>
          <p:cNvPr id="9" name="Picture 8" descr="A circular icon with a tag and a plus sign&#10;&#10;AI-generated content may be incorrect.">
            <a:extLst>
              <a:ext uri="{FF2B5EF4-FFF2-40B4-BE49-F238E27FC236}">
                <a16:creationId xmlns:a16="http://schemas.microsoft.com/office/drawing/2014/main" id="{3BAE8D2F-705F-9032-73BA-09330D42ADB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8298736" y="3317228"/>
            <a:ext cx="1055434" cy="905727"/>
          </a:xfrm>
          <a:prstGeom prst="rect">
            <a:avLst/>
          </a:prstGeom>
        </p:spPr>
      </p:pic>
      <p:pic>
        <p:nvPicPr>
          <p:cNvPr id="15" name="Picture 14" descr="A diagram of blockchain technology&#10;&#10;AI-generated content may be incorrect.">
            <a:extLst>
              <a:ext uri="{FF2B5EF4-FFF2-40B4-BE49-F238E27FC236}">
                <a16:creationId xmlns:a16="http://schemas.microsoft.com/office/drawing/2014/main" id="{A98ABD01-A9BB-4B10-2A1A-EBC8F670928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8336106" y="4399280"/>
            <a:ext cx="3886130" cy="198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FB41-9DC1-604E-F56F-AD453963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Our SpectraChat Is Smarter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A9C1B1A-5BEF-7AAE-3EC5-6EC8661DA137}"/>
              </a:ext>
            </a:extLst>
          </p:cNvPr>
          <p:cNvSpPr/>
          <p:nvPr/>
        </p:nvSpPr>
        <p:spPr>
          <a:xfrm>
            <a:off x="2437527" y="4727585"/>
            <a:ext cx="5265384" cy="3350681"/>
          </a:xfrm>
          <a:custGeom>
            <a:avLst/>
            <a:gdLst>
              <a:gd name="connsiteX0" fmla="*/ 5265384 w 5265384"/>
              <a:gd name="connsiteY0" fmla="*/ 117644 h 3350681"/>
              <a:gd name="connsiteX1" fmla="*/ 4974367 w 5265384"/>
              <a:gd name="connsiteY1" fmla="*/ 72154 h 3350681"/>
              <a:gd name="connsiteX2" fmla="*/ 4696768 w 5265384"/>
              <a:gd name="connsiteY2" fmla="*/ 367835 h 3350681"/>
              <a:gd name="connsiteX3" fmla="*/ 4185014 w 5265384"/>
              <a:gd name="connsiteY3" fmla="*/ 879589 h 3350681"/>
              <a:gd name="connsiteX4" fmla="*/ 4696768 w 5265384"/>
              <a:gd name="connsiteY4" fmla="*/ 322345 h 3350681"/>
              <a:gd name="connsiteX5" fmla="*/ 4924215 w 5265384"/>
              <a:gd name="connsiteY5" fmla="*/ 106271 h 3350681"/>
              <a:gd name="connsiteX6" fmla="*/ 4435205 w 5265384"/>
              <a:gd name="connsiteY6" fmla="*/ 174505 h 3350681"/>
              <a:gd name="connsiteX7" fmla="*/ 4360148 w 5265384"/>
              <a:gd name="connsiteY7" fmla="*/ 232163 h 3350681"/>
              <a:gd name="connsiteX8" fmla="*/ 3786983 w 5265384"/>
              <a:gd name="connsiteY8" fmla="*/ 913706 h 3350681"/>
              <a:gd name="connsiteX9" fmla="*/ 3988045 w 5265384"/>
              <a:gd name="connsiteY9" fmla="*/ 565031 h 3350681"/>
              <a:gd name="connsiteX10" fmla="*/ 3980312 w 5265384"/>
              <a:gd name="connsiteY10" fmla="*/ 572537 h 3350681"/>
              <a:gd name="connsiteX11" fmla="*/ 4001806 w 5265384"/>
              <a:gd name="connsiteY11" fmla="*/ 541376 h 3350681"/>
              <a:gd name="connsiteX12" fmla="*/ 4001806 w 5265384"/>
              <a:gd name="connsiteY12" fmla="*/ 541376 h 3350681"/>
              <a:gd name="connsiteX13" fmla="*/ 4001806 w 5265384"/>
              <a:gd name="connsiteY13" fmla="*/ 541376 h 3350681"/>
              <a:gd name="connsiteX14" fmla="*/ 4332854 w 5265384"/>
              <a:gd name="connsiteY14" fmla="*/ 60782 h 3350681"/>
              <a:gd name="connsiteX15" fmla="*/ 3934823 w 5265384"/>
              <a:gd name="connsiteY15" fmla="*/ 140388 h 3350681"/>
              <a:gd name="connsiteX16" fmla="*/ 3650515 w 5265384"/>
              <a:gd name="connsiteY16" fmla="*/ 595281 h 3350681"/>
              <a:gd name="connsiteX17" fmla="*/ 3047782 w 5265384"/>
              <a:gd name="connsiteY17" fmla="*/ 856845 h 3350681"/>
              <a:gd name="connsiteX18" fmla="*/ 2786218 w 5265384"/>
              <a:gd name="connsiteY18" fmla="*/ 401952 h 3350681"/>
              <a:gd name="connsiteX19" fmla="*/ 2331326 w 5265384"/>
              <a:gd name="connsiteY19" fmla="*/ 15293 h 3350681"/>
              <a:gd name="connsiteX20" fmla="*/ 2422304 w 5265384"/>
              <a:gd name="connsiteY20" fmla="*/ 231367 h 3350681"/>
              <a:gd name="connsiteX21" fmla="*/ 2513283 w 5265384"/>
              <a:gd name="connsiteY21" fmla="*/ 1493695 h 3350681"/>
              <a:gd name="connsiteX22" fmla="*/ 0 w 5265384"/>
              <a:gd name="connsiteY22" fmla="*/ 2710533 h 3350681"/>
              <a:gd name="connsiteX23" fmla="*/ 1082531 w 5265384"/>
              <a:gd name="connsiteY23" fmla="*/ 3350682 h 3350681"/>
              <a:gd name="connsiteX24" fmla="*/ 3381218 w 5265384"/>
              <a:gd name="connsiteY24" fmla="*/ 1741953 h 3350681"/>
              <a:gd name="connsiteX25" fmla="*/ 4494682 w 5265384"/>
              <a:gd name="connsiteY25" fmla="*/ 812265 h 3350681"/>
              <a:gd name="connsiteX26" fmla="*/ 4765002 w 5265384"/>
              <a:gd name="connsiteY26" fmla="*/ 561164 h 3350681"/>
              <a:gd name="connsiteX27" fmla="*/ 5265384 w 5265384"/>
              <a:gd name="connsiteY27" fmla="*/ 117644 h 335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65384" h="3350681">
                <a:moveTo>
                  <a:pt x="5265384" y="117644"/>
                </a:moveTo>
                <a:cubicBezTo>
                  <a:pt x="5177817" y="-17687"/>
                  <a:pt x="5045785" y="30873"/>
                  <a:pt x="4974367" y="72154"/>
                </a:cubicBezTo>
                <a:cubicBezTo>
                  <a:pt x="4956285" y="140388"/>
                  <a:pt x="4821864" y="231367"/>
                  <a:pt x="4696768" y="367835"/>
                </a:cubicBezTo>
                <a:cubicBezTo>
                  <a:pt x="4571673" y="504303"/>
                  <a:pt x="4185014" y="879589"/>
                  <a:pt x="4185014" y="879589"/>
                </a:cubicBezTo>
                <a:cubicBezTo>
                  <a:pt x="4185014" y="879589"/>
                  <a:pt x="4594417" y="413324"/>
                  <a:pt x="4696768" y="322345"/>
                </a:cubicBezTo>
                <a:cubicBezTo>
                  <a:pt x="4799119" y="231367"/>
                  <a:pt x="4924215" y="106271"/>
                  <a:pt x="4924215" y="106271"/>
                </a:cubicBezTo>
                <a:cubicBezTo>
                  <a:pt x="4833236" y="-41569"/>
                  <a:pt x="4594417" y="60782"/>
                  <a:pt x="4435205" y="174505"/>
                </a:cubicBezTo>
                <a:cubicBezTo>
                  <a:pt x="4412574" y="190654"/>
                  <a:pt x="4387100" y="210328"/>
                  <a:pt x="4360148" y="232163"/>
                </a:cubicBezTo>
                <a:lnTo>
                  <a:pt x="3786983" y="913706"/>
                </a:lnTo>
                <a:lnTo>
                  <a:pt x="3988045" y="565031"/>
                </a:lnTo>
                <a:cubicBezTo>
                  <a:pt x="3983041" y="569807"/>
                  <a:pt x="3980312" y="572537"/>
                  <a:pt x="3980312" y="572537"/>
                </a:cubicBezTo>
                <a:lnTo>
                  <a:pt x="4001806" y="541376"/>
                </a:lnTo>
                <a:lnTo>
                  <a:pt x="4001806" y="541376"/>
                </a:lnTo>
                <a:lnTo>
                  <a:pt x="4001806" y="541376"/>
                </a:lnTo>
                <a:lnTo>
                  <a:pt x="4332854" y="60782"/>
                </a:lnTo>
                <a:cubicBezTo>
                  <a:pt x="4219131" y="-52941"/>
                  <a:pt x="4094035" y="3920"/>
                  <a:pt x="3934823" y="140388"/>
                </a:cubicBezTo>
                <a:cubicBezTo>
                  <a:pt x="3775610" y="276856"/>
                  <a:pt x="3650515" y="595281"/>
                  <a:pt x="3650515" y="595281"/>
                </a:cubicBezTo>
                <a:cubicBezTo>
                  <a:pt x="3479930" y="902334"/>
                  <a:pt x="3047782" y="856845"/>
                  <a:pt x="3047782" y="856845"/>
                </a:cubicBezTo>
                <a:cubicBezTo>
                  <a:pt x="3047782" y="856845"/>
                  <a:pt x="2831253" y="694448"/>
                  <a:pt x="2786218" y="401952"/>
                </a:cubicBezTo>
                <a:cubicBezTo>
                  <a:pt x="2740729" y="106271"/>
                  <a:pt x="2467793" y="-41569"/>
                  <a:pt x="2331326" y="15293"/>
                </a:cubicBezTo>
                <a:cubicBezTo>
                  <a:pt x="2194858" y="72154"/>
                  <a:pt x="2319953" y="129016"/>
                  <a:pt x="2422304" y="231367"/>
                </a:cubicBezTo>
                <a:cubicBezTo>
                  <a:pt x="2524655" y="333718"/>
                  <a:pt x="2706612" y="1175270"/>
                  <a:pt x="2513283" y="1493695"/>
                </a:cubicBezTo>
                <a:cubicBezTo>
                  <a:pt x="2319953" y="1812120"/>
                  <a:pt x="0" y="2710533"/>
                  <a:pt x="0" y="2710533"/>
                </a:cubicBezTo>
                <a:lnTo>
                  <a:pt x="1082531" y="3350682"/>
                </a:lnTo>
                <a:cubicBezTo>
                  <a:pt x="1455657" y="3105835"/>
                  <a:pt x="2995469" y="2089263"/>
                  <a:pt x="3381218" y="1741953"/>
                </a:cubicBezTo>
                <a:cubicBezTo>
                  <a:pt x="3820303" y="1346651"/>
                  <a:pt x="4492294" y="814198"/>
                  <a:pt x="4494682" y="812265"/>
                </a:cubicBezTo>
                <a:cubicBezTo>
                  <a:pt x="4587367" y="720490"/>
                  <a:pt x="4678686" y="633037"/>
                  <a:pt x="4765002" y="561164"/>
                </a:cubicBezTo>
                <a:cubicBezTo>
                  <a:pt x="5037938" y="333718"/>
                  <a:pt x="5265384" y="117644"/>
                  <a:pt x="5265384" y="117644"/>
                </a:cubicBezTo>
                <a:close/>
              </a:path>
            </a:pathLst>
          </a:custGeom>
          <a:noFill/>
          <a:ln w="113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4ECB100-F72A-A51C-5639-2282F01BC23E}"/>
              </a:ext>
            </a:extLst>
          </p:cNvPr>
          <p:cNvGrpSpPr/>
          <p:nvPr/>
        </p:nvGrpSpPr>
        <p:grpSpPr>
          <a:xfrm>
            <a:off x="2204910" y="1293223"/>
            <a:ext cx="7779005" cy="5597795"/>
            <a:chOff x="2643907" y="1627835"/>
            <a:chExt cx="7314010" cy="5263183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9AEF332-E316-14CA-C245-F5283D42681B}"/>
                </a:ext>
              </a:extLst>
            </p:cNvPr>
            <p:cNvGrpSpPr/>
            <p:nvPr/>
          </p:nvGrpSpPr>
          <p:grpSpPr>
            <a:xfrm>
              <a:off x="2643907" y="4611243"/>
              <a:ext cx="7100168" cy="290990"/>
              <a:chOff x="2643907" y="4611243"/>
              <a:chExt cx="7100168" cy="29099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99D661B-4838-AADD-6D05-487CE593A61D}"/>
                  </a:ext>
                </a:extLst>
              </p:cNvPr>
              <p:cNvSpPr/>
              <p:nvPr/>
            </p:nvSpPr>
            <p:spPr>
              <a:xfrm>
                <a:off x="2643907" y="4611243"/>
                <a:ext cx="7100168" cy="11639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62000">
                    <a:schemeClr val="tx1">
                      <a:lumMod val="75000"/>
                      <a:lumOff val="25000"/>
                    </a:schemeClr>
                  </a:gs>
                  <a:gs pos="84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6556CCD-EED8-6B7C-3F62-DFF06EFDB4EA}"/>
                  </a:ext>
                </a:extLst>
              </p:cNvPr>
              <p:cNvSpPr/>
              <p:nvPr/>
            </p:nvSpPr>
            <p:spPr>
              <a:xfrm>
                <a:off x="3847775" y="4727639"/>
                <a:ext cx="4692433" cy="174594"/>
              </a:xfrm>
              <a:custGeom>
                <a:avLst/>
                <a:gdLst>
                  <a:gd name="connsiteX0" fmla="*/ 0 w 5805906"/>
                  <a:gd name="connsiteY0" fmla="*/ 0 h 216024"/>
                  <a:gd name="connsiteX1" fmla="*/ 5805906 w 5805906"/>
                  <a:gd name="connsiteY1" fmla="*/ 0 h 216024"/>
                  <a:gd name="connsiteX2" fmla="*/ 5688902 w 5805906"/>
                  <a:gd name="connsiteY2" fmla="*/ 27601 h 216024"/>
                  <a:gd name="connsiteX3" fmla="*/ 2902953 w 5805906"/>
                  <a:gd name="connsiteY3" fmla="*/ 216024 h 216024"/>
                  <a:gd name="connsiteX4" fmla="*/ 117004 w 5805906"/>
                  <a:gd name="connsiteY4" fmla="*/ 27601 h 216024"/>
                  <a:gd name="connsiteX5" fmla="*/ 0 w 5805906"/>
                  <a:gd name="connsiteY5" fmla="*/ 0 h 2160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05906" h="216024">
                    <a:moveTo>
                      <a:pt x="0" y="0"/>
                    </a:moveTo>
                    <a:lnTo>
                      <a:pt x="5805906" y="0"/>
                    </a:lnTo>
                    <a:lnTo>
                      <a:pt x="5688902" y="27601"/>
                    </a:lnTo>
                    <a:cubicBezTo>
                      <a:pt x="5152376" y="139834"/>
                      <a:pt x="4105963" y="216024"/>
                      <a:pt x="2902953" y="216024"/>
                    </a:cubicBezTo>
                    <a:cubicBezTo>
                      <a:pt x="1699944" y="216024"/>
                      <a:pt x="653531" y="139834"/>
                      <a:pt x="117004" y="27601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3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10068B8-591E-9296-14EA-94BEA663FB94}"/>
                </a:ext>
              </a:extLst>
            </p:cNvPr>
            <p:cNvGrpSpPr/>
            <p:nvPr/>
          </p:nvGrpSpPr>
          <p:grpSpPr>
            <a:xfrm>
              <a:off x="7956059" y="2466321"/>
              <a:ext cx="1532373" cy="2153330"/>
              <a:chOff x="8398668" y="1052736"/>
              <a:chExt cx="1895992" cy="2664296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BF4CE503-1939-6832-5354-B568857B0699}"/>
                  </a:ext>
                </a:extLst>
              </p:cNvPr>
              <p:cNvSpPr/>
              <p:nvPr/>
            </p:nvSpPr>
            <p:spPr>
              <a:xfrm>
                <a:off x="9058632" y="3284984"/>
                <a:ext cx="576064" cy="432048"/>
              </a:xfrm>
              <a:prstGeom prst="roundRect">
                <a:avLst>
                  <a:gd name="adj" fmla="val 2577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D5ACF7B-527E-C96E-0717-2AF16CF83D94}"/>
                  </a:ext>
                </a:extLst>
              </p:cNvPr>
              <p:cNvGrpSpPr/>
              <p:nvPr/>
            </p:nvGrpSpPr>
            <p:grpSpPr>
              <a:xfrm>
                <a:off x="8398668" y="1052736"/>
                <a:ext cx="1895992" cy="2498705"/>
                <a:chOff x="7462564" y="1268760"/>
                <a:chExt cx="1578868" cy="2080771"/>
              </a:xfrm>
            </p:grpSpPr>
            <p:sp>
              <p:nvSpPr>
                <p:cNvPr id="16" name="Freeform 14">
                  <a:extLst>
                    <a:ext uri="{FF2B5EF4-FFF2-40B4-BE49-F238E27FC236}">
                      <a16:creationId xmlns:a16="http://schemas.microsoft.com/office/drawing/2014/main" id="{B3CDC336-5DEC-4BE5-AC86-A5CAE04075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2564" y="1268760"/>
                  <a:ext cx="1578868" cy="1592862"/>
                </a:xfrm>
                <a:custGeom>
                  <a:avLst/>
                  <a:gdLst>
                    <a:gd name="T0" fmla="*/ 222 w 1297"/>
                    <a:gd name="T1" fmla="*/ 1147 h 1309"/>
                    <a:gd name="T2" fmla="*/ 346 w 1297"/>
                    <a:gd name="T3" fmla="*/ 1309 h 1309"/>
                    <a:gd name="T4" fmla="*/ 930 w 1297"/>
                    <a:gd name="T5" fmla="*/ 1309 h 1309"/>
                    <a:gd name="T6" fmla="*/ 1054 w 1297"/>
                    <a:gd name="T7" fmla="*/ 1147 h 1309"/>
                    <a:gd name="T8" fmla="*/ 1263 w 1297"/>
                    <a:gd name="T9" fmla="*/ 580 h 1309"/>
                    <a:gd name="T10" fmla="*/ 708 w 1297"/>
                    <a:gd name="T11" fmla="*/ 42 h 1309"/>
                    <a:gd name="T12" fmla="*/ 0 w 1297"/>
                    <a:gd name="T13" fmla="*/ 674 h 1309"/>
                    <a:gd name="T14" fmla="*/ 222 w 1297"/>
                    <a:gd name="T15" fmla="*/ 1147 h 1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97" h="1309">
                      <a:moveTo>
                        <a:pt x="222" y="1147"/>
                      </a:moveTo>
                      <a:cubicBezTo>
                        <a:pt x="273" y="1194"/>
                        <a:pt x="316" y="1250"/>
                        <a:pt x="346" y="1309"/>
                      </a:cubicBezTo>
                      <a:cubicBezTo>
                        <a:pt x="930" y="1309"/>
                        <a:pt x="930" y="1309"/>
                        <a:pt x="930" y="1309"/>
                      </a:cubicBezTo>
                      <a:cubicBezTo>
                        <a:pt x="960" y="1250"/>
                        <a:pt x="1003" y="1190"/>
                        <a:pt x="1054" y="1147"/>
                      </a:cubicBezTo>
                      <a:cubicBezTo>
                        <a:pt x="1207" y="1015"/>
                        <a:pt x="1297" y="806"/>
                        <a:pt x="1263" y="580"/>
                      </a:cubicBezTo>
                      <a:cubicBezTo>
                        <a:pt x="1225" y="298"/>
                        <a:pt x="990" y="72"/>
                        <a:pt x="708" y="42"/>
                      </a:cubicBezTo>
                      <a:cubicBezTo>
                        <a:pt x="324" y="0"/>
                        <a:pt x="0" y="298"/>
                        <a:pt x="0" y="674"/>
                      </a:cubicBezTo>
                      <a:cubicBezTo>
                        <a:pt x="4" y="861"/>
                        <a:pt x="90" y="1032"/>
                        <a:pt x="222" y="114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898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Freeform 36">
                  <a:extLst>
                    <a:ext uri="{FF2B5EF4-FFF2-40B4-BE49-F238E27FC236}">
                      <a16:creationId xmlns:a16="http://schemas.microsoft.com/office/drawing/2014/main" id="{EC89D047-58DD-47D9-93F7-6302F056AF3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28608" y="2112879"/>
                  <a:ext cx="646780" cy="763965"/>
                </a:xfrm>
                <a:custGeom>
                  <a:avLst/>
                  <a:gdLst>
                    <a:gd name="T0" fmla="*/ 426 w 520"/>
                    <a:gd name="T1" fmla="*/ 5 h 615"/>
                    <a:gd name="T2" fmla="*/ 332 w 520"/>
                    <a:gd name="T3" fmla="*/ 98 h 615"/>
                    <a:gd name="T4" fmla="*/ 332 w 520"/>
                    <a:gd name="T5" fmla="*/ 154 h 615"/>
                    <a:gd name="T6" fmla="*/ 260 w 520"/>
                    <a:gd name="T7" fmla="*/ 154 h 615"/>
                    <a:gd name="T8" fmla="*/ 187 w 520"/>
                    <a:gd name="T9" fmla="*/ 154 h 615"/>
                    <a:gd name="T10" fmla="*/ 187 w 520"/>
                    <a:gd name="T11" fmla="*/ 94 h 615"/>
                    <a:gd name="T12" fmla="*/ 94 w 520"/>
                    <a:gd name="T13" fmla="*/ 0 h 615"/>
                    <a:gd name="T14" fmla="*/ 0 w 520"/>
                    <a:gd name="T15" fmla="*/ 94 h 615"/>
                    <a:gd name="T16" fmla="*/ 0 w 520"/>
                    <a:gd name="T17" fmla="*/ 98 h 615"/>
                    <a:gd name="T18" fmla="*/ 94 w 520"/>
                    <a:gd name="T19" fmla="*/ 192 h 615"/>
                    <a:gd name="T20" fmla="*/ 149 w 520"/>
                    <a:gd name="T21" fmla="*/ 192 h 615"/>
                    <a:gd name="T22" fmla="*/ 149 w 520"/>
                    <a:gd name="T23" fmla="*/ 610 h 615"/>
                    <a:gd name="T24" fmla="*/ 187 w 520"/>
                    <a:gd name="T25" fmla="*/ 610 h 615"/>
                    <a:gd name="T26" fmla="*/ 187 w 520"/>
                    <a:gd name="T27" fmla="*/ 197 h 615"/>
                    <a:gd name="T28" fmla="*/ 260 w 520"/>
                    <a:gd name="T29" fmla="*/ 197 h 615"/>
                    <a:gd name="T30" fmla="*/ 332 w 520"/>
                    <a:gd name="T31" fmla="*/ 197 h 615"/>
                    <a:gd name="T32" fmla="*/ 332 w 520"/>
                    <a:gd name="T33" fmla="*/ 615 h 615"/>
                    <a:gd name="T34" fmla="*/ 371 w 520"/>
                    <a:gd name="T35" fmla="*/ 615 h 615"/>
                    <a:gd name="T36" fmla="*/ 371 w 520"/>
                    <a:gd name="T37" fmla="*/ 197 h 615"/>
                    <a:gd name="T38" fmla="*/ 426 w 520"/>
                    <a:gd name="T39" fmla="*/ 197 h 615"/>
                    <a:gd name="T40" fmla="*/ 520 w 520"/>
                    <a:gd name="T41" fmla="*/ 103 h 615"/>
                    <a:gd name="T42" fmla="*/ 520 w 520"/>
                    <a:gd name="T43" fmla="*/ 98 h 615"/>
                    <a:gd name="T44" fmla="*/ 426 w 520"/>
                    <a:gd name="T45" fmla="*/ 5 h 615"/>
                    <a:gd name="T46" fmla="*/ 149 w 520"/>
                    <a:gd name="T47" fmla="*/ 154 h 615"/>
                    <a:gd name="T48" fmla="*/ 94 w 520"/>
                    <a:gd name="T49" fmla="*/ 154 h 615"/>
                    <a:gd name="T50" fmla="*/ 38 w 520"/>
                    <a:gd name="T51" fmla="*/ 98 h 615"/>
                    <a:gd name="T52" fmla="*/ 38 w 520"/>
                    <a:gd name="T53" fmla="*/ 94 h 615"/>
                    <a:gd name="T54" fmla="*/ 94 w 520"/>
                    <a:gd name="T55" fmla="*/ 39 h 615"/>
                    <a:gd name="T56" fmla="*/ 149 w 520"/>
                    <a:gd name="T57" fmla="*/ 94 h 615"/>
                    <a:gd name="T58" fmla="*/ 149 w 520"/>
                    <a:gd name="T59" fmla="*/ 154 h 615"/>
                    <a:gd name="T60" fmla="*/ 478 w 520"/>
                    <a:gd name="T61" fmla="*/ 103 h 615"/>
                    <a:gd name="T62" fmla="*/ 422 w 520"/>
                    <a:gd name="T63" fmla="*/ 158 h 615"/>
                    <a:gd name="T64" fmla="*/ 367 w 520"/>
                    <a:gd name="T65" fmla="*/ 158 h 615"/>
                    <a:gd name="T66" fmla="*/ 367 w 520"/>
                    <a:gd name="T67" fmla="*/ 98 h 615"/>
                    <a:gd name="T68" fmla="*/ 422 w 520"/>
                    <a:gd name="T69" fmla="*/ 43 h 615"/>
                    <a:gd name="T70" fmla="*/ 478 w 520"/>
                    <a:gd name="T71" fmla="*/ 98 h 615"/>
                    <a:gd name="T72" fmla="*/ 478 w 520"/>
                    <a:gd name="T73" fmla="*/ 103 h 6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20" h="615">
                      <a:moveTo>
                        <a:pt x="426" y="5"/>
                      </a:moveTo>
                      <a:cubicBezTo>
                        <a:pt x="375" y="5"/>
                        <a:pt x="332" y="47"/>
                        <a:pt x="332" y="98"/>
                      </a:cubicBezTo>
                      <a:cubicBezTo>
                        <a:pt x="332" y="154"/>
                        <a:pt x="332" y="154"/>
                        <a:pt x="332" y="154"/>
                      </a:cubicBezTo>
                      <a:cubicBezTo>
                        <a:pt x="260" y="154"/>
                        <a:pt x="260" y="154"/>
                        <a:pt x="260" y="154"/>
                      </a:cubicBezTo>
                      <a:cubicBezTo>
                        <a:pt x="187" y="154"/>
                        <a:pt x="187" y="154"/>
                        <a:pt x="187" y="154"/>
                      </a:cubicBezTo>
                      <a:cubicBezTo>
                        <a:pt x="187" y="94"/>
                        <a:pt x="187" y="94"/>
                        <a:pt x="187" y="94"/>
                      </a:cubicBezTo>
                      <a:cubicBezTo>
                        <a:pt x="187" y="43"/>
                        <a:pt x="145" y="0"/>
                        <a:pt x="94" y="0"/>
                      </a:cubicBezTo>
                      <a:cubicBezTo>
                        <a:pt x="42" y="0"/>
                        <a:pt x="0" y="43"/>
                        <a:pt x="0" y="94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50"/>
                        <a:pt x="42" y="192"/>
                        <a:pt x="94" y="192"/>
                      </a:cubicBezTo>
                      <a:cubicBezTo>
                        <a:pt x="149" y="192"/>
                        <a:pt x="149" y="192"/>
                        <a:pt x="149" y="192"/>
                      </a:cubicBezTo>
                      <a:cubicBezTo>
                        <a:pt x="149" y="610"/>
                        <a:pt x="149" y="610"/>
                        <a:pt x="149" y="610"/>
                      </a:cubicBezTo>
                      <a:cubicBezTo>
                        <a:pt x="187" y="610"/>
                        <a:pt x="187" y="610"/>
                        <a:pt x="187" y="610"/>
                      </a:cubicBezTo>
                      <a:cubicBezTo>
                        <a:pt x="187" y="197"/>
                        <a:pt x="187" y="197"/>
                        <a:pt x="187" y="197"/>
                      </a:cubicBezTo>
                      <a:cubicBezTo>
                        <a:pt x="260" y="197"/>
                        <a:pt x="260" y="197"/>
                        <a:pt x="260" y="197"/>
                      </a:cubicBezTo>
                      <a:cubicBezTo>
                        <a:pt x="332" y="197"/>
                        <a:pt x="332" y="197"/>
                        <a:pt x="332" y="197"/>
                      </a:cubicBezTo>
                      <a:cubicBezTo>
                        <a:pt x="332" y="615"/>
                        <a:pt x="332" y="615"/>
                        <a:pt x="332" y="615"/>
                      </a:cubicBezTo>
                      <a:cubicBezTo>
                        <a:pt x="371" y="615"/>
                        <a:pt x="371" y="615"/>
                        <a:pt x="371" y="615"/>
                      </a:cubicBezTo>
                      <a:cubicBezTo>
                        <a:pt x="371" y="197"/>
                        <a:pt x="371" y="197"/>
                        <a:pt x="371" y="197"/>
                      </a:cubicBezTo>
                      <a:cubicBezTo>
                        <a:pt x="426" y="197"/>
                        <a:pt x="426" y="197"/>
                        <a:pt x="426" y="197"/>
                      </a:cubicBezTo>
                      <a:cubicBezTo>
                        <a:pt x="478" y="197"/>
                        <a:pt x="520" y="154"/>
                        <a:pt x="520" y="103"/>
                      </a:cubicBezTo>
                      <a:cubicBezTo>
                        <a:pt x="520" y="98"/>
                        <a:pt x="520" y="98"/>
                        <a:pt x="520" y="98"/>
                      </a:cubicBezTo>
                      <a:cubicBezTo>
                        <a:pt x="520" y="47"/>
                        <a:pt x="478" y="5"/>
                        <a:pt x="426" y="5"/>
                      </a:cubicBezTo>
                      <a:close/>
                      <a:moveTo>
                        <a:pt x="149" y="154"/>
                      </a:moveTo>
                      <a:cubicBezTo>
                        <a:pt x="94" y="154"/>
                        <a:pt x="94" y="154"/>
                        <a:pt x="94" y="154"/>
                      </a:cubicBezTo>
                      <a:cubicBezTo>
                        <a:pt x="64" y="154"/>
                        <a:pt x="38" y="128"/>
                        <a:pt x="38" y="98"/>
                      </a:cubicBezTo>
                      <a:cubicBezTo>
                        <a:pt x="38" y="94"/>
                        <a:pt x="38" y="94"/>
                        <a:pt x="38" y="94"/>
                      </a:cubicBezTo>
                      <a:cubicBezTo>
                        <a:pt x="38" y="64"/>
                        <a:pt x="64" y="39"/>
                        <a:pt x="94" y="39"/>
                      </a:cubicBezTo>
                      <a:cubicBezTo>
                        <a:pt x="123" y="39"/>
                        <a:pt x="149" y="64"/>
                        <a:pt x="149" y="94"/>
                      </a:cubicBezTo>
                      <a:lnTo>
                        <a:pt x="149" y="154"/>
                      </a:lnTo>
                      <a:close/>
                      <a:moveTo>
                        <a:pt x="478" y="103"/>
                      </a:moveTo>
                      <a:cubicBezTo>
                        <a:pt x="478" y="133"/>
                        <a:pt x="452" y="158"/>
                        <a:pt x="422" y="158"/>
                      </a:cubicBezTo>
                      <a:cubicBezTo>
                        <a:pt x="367" y="158"/>
                        <a:pt x="367" y="158"/>
                        <a:pt x="367" y="158"/>
                      </a:cubicBezTo>
                      <a:cubicBezTo>
                        <a:pt x="367" y="98"/>
                        <a:pt x="367" y="98"/>
                        <a:pt x="367" y="98"/>
                      </a:cubicBezTo>
                      <a:cubicBezTo>
                        <a:pt x="367" y="69"/>
                        <a:pt x="392" y="43"/>
                        <a:pt x="422" y="43"/>
                      </a:cubicBezTo>
                      <a:cubicBezTo>
                        <a:pt x="452" y="43"/>
                        <a:pt x="478" y="69"/>
                        <a:pt x="478" y="98"/>
                      </a:cubicBezTo>
                      <a:lnTo>
                        <a:pt x="478" y="103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898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639FC025-0595-4531-BFC4-7A31D9299BF8}"/>
                    </a:ext>
                  </a:extLst>
                </p:cNvPr>
                <p:cNvGrpSpPr/>
                <p:nvPr/>
              </p:nvGrpSpPr>
              <p:grpSpPr>
                <a:xfrm>
                  <a:off x="7790170" y="2846991"/>
                  <a:ext cx="902665" cy="502540"/>
                  <a:chOff x="5650386" y="4584814"/>
                  <a:chExt cx="902665" cy="502540"/>
                </a:xfrm>
              </p:grpSpPr>
              <p:sp>
                <p:nvSpPr>
                  <p:cNvPr id="17" name="Freeform 15">
                    <a:extLst>
                      <a:ext uri="{FF2B5EF4-FFF2-40B4-BE49-F238E27FC236}">
                        <a16:creationId xmlns:a16="http://schemas.microsoft.com/office/drawing/2014/main" id="{4C544892-4DFC-4D6C-8F12-14072C4FA2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43896" y="4729851"/>
                    <a:ext cx="715643" cy="357503"/>
                  </a:xfrm>
                  <a:custGeom>
                    <a:avLst/>
                    <a:gdLst>
                      <a:gd name="T0" fmla="*/ 588 w 588"/>
                      <a:gd name="T1" fmla="*/ 205 h 294"/>
                      <a:gd name="T2" fmla="*/ 588 w 588"/>
                      <a:gd name="T3" fmla="*/ 0 h 294"/>
                      <a:gd name="T4" fmla="*/ 0 w 588"/>
                      <a:gd name="T5" fmla="*/ 0 h 294"/>
                      <a:gd name="T6" fmla="*/ 0 w 588"/>
                      <a:gd name="T7" fmla="*/ 205 h 294"/>
                      <a:gd name="T8" fmla="*/ 89 w 588"/>
                      <a:gd name="T9" fmla="*/ 294 h 294"/>
                      <a:gd name="T10" fmla="*/ 503 w 588"/>
                      <a:gd name="T11" fmla="*/ 294 h 294"/>
                      <a:gd name="T12" fmla="*/ 588 w 588"/>
                      <a:gd name="T13" fmla="*/ 205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88" h="294">
                        <a:moveTo>
                          <a:pt x="588" y="205"/>
                        </a:moveTo>
                        <a:cubicBezTo>
                          <a:pt x="588" y="0"/>
                          <a:pt x="588" y="0"/>
                          <a:pt x="588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05"/>
                          <a:pt x="0" y="205"/>
                          <a:pt x="0" y="205"/>
                        </a:cubicBezTo>
                        <a:cubicBezTo>
                          <a:pt x="0" y="252"/>
                          <a:pt x="38" y="294"/>
                          <a:pt x="89" y="294"/>
                        </a:cubicBezTo>
                        <a:cubicBezTo>
                          <a:pt x="503" y="294"/>
                          <a:pt x="503" y="294"/>
                          <a:pt x="503" y="294"/>
                        </a:cubicBezTo>
                        <a:cubicBezTo>
                          <a:pt x="550" y="290"/>
                          <a:pt x="588" y="252"/>
                          <a:pt x="588" y="205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" name="Freeform 16">
                    <a:extLst>
                      <a:ext uri="{FF2B5EF4-FFF2-40B4-BE49-F238E27FC236}">
                        <a16:creationId xmlns:a16="http://schemas.microsoft.com/office/drawing/2014/main" id="{26147F79-CAFD-4547-B4DB-7F8A12A72E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650386" y="4584814"/>
                    <a:ext cx="902665" cy="145037"/>
                  </a:xfrm>
                  <a:custGeom>
                    <a:avLst/>
                    <a:gdLst>
                      <a:gd name="T0" fmla="*/ 682 w 742"/>
                      <a:gd name="T1" fmla="*/ 0 h 119"/>
                      <a:gd name="T2" fmla="*/ 60 w 742"/>
                      <a:gd name="T3" fmla="*/ 0 h 119"/>
                      <a:gd name="T4" fmla="*/ 0 w 742"/>
                      <a:gd name="T5" fmla="*/ 59 h 119"/>
                      <a:gd name="T6" fmla="*/ 0 w 742"/>
                      <a:gd name="T7" fmla="*/ 59 h 119"/>
                      <a:gd name="T8" fmla="*/ 60 w 742"/>
                      <a:gd name="T9" fmla="*/ 119 h 119"/>
                      <a:gd name="T10" fmla="*/ 682 w 742"/>
                      <a:gd name="T11" fmla="*/ 119 h 119"/>
                      <a:gd name="T12" fmla="*/ 742 w 742"/>
                      <a:gd name="T13" fmla="*/ 59 h 119"/>
                      <a:gd name="T14" fmla="*/ 742 w 742"/>
                      <a:gd name="T15" fmla="*/ 59 h 119"/>
                      <a:gd name="T16" fmla="*/ 682 w 742"/>
                      <a:gd name="T17" fmla="*/ 0 h 1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2" h="119">
                        <a:moveTo>
                          <a:pt x="682" y="0"/>
                        </a:moveTo>
                        <a:cubicBezTo>
                          <a:pt x="60" y="0"/>
                          <a:pt x="60" y="0"/>
                          <a:pt x="60" y="0"/>
                        </a:cubicBezTo>
                        <a:cubicBezTo>
                          <a:pt x="25" y="0"/>
                          <a:pt x="0" y="25"/>
                          <a:pt x="0" y="59"/>
                        </a:cubicBezTo>
                        <a:cubicBezTo>
                          <a:pt x="0" y="59"/>
                          <a:pt x="0" y="59"/>
                          <a:pt x="0" y="59"/>
                        </a:cubicBezTo>
                        <a:cubicBezTo>
                          <a:pt x="0" y="93"/>
                          <a:pt x="25" y="119"/>
                          <a:pt x="60" y="119"/>
                        </a:cubicBezTo>
                        <a:cubicBezTo>
                          <a:pt x="682" y="119"/>
                          <a:pt x="682" y="119"/>
                          <a:pt x="682" y="119"/>
                        </a:cubicBezTo>
                        <a:cubicBezTo>
                          <a:pt x="717" y="119"/>
                          <a:pt x="742" y="93"/>
                          <a:pt x="742" y="59"/>
                        </a:cubicBezTo>
                        <a:cubicBezTo>
                          <a:pt x="742" y="59"/>
                          <a:pt x="742" y="59"/>
                          <a:pt x="742" y="59"/>
                        </a:cubicBezTo>
                        <a:cubicBezTo>
                          <a:pt x="742" y="25"/>
                          <a:pt x="712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Freeform 17">
                    <a:extLst>
                      <a:ext uri="{FF2B5EF4-FFF2-40B4-BE49-F238E27FC236}">
                        <a16:creationId xmlns:a16="http://schemas.microsoft.com/office/drawing/2014/main" id="{B21A9BB7-DAB5-4C67-9093-AE388DC016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650386" y="4807458"/>
                    <a:ext cx="902665" cy="146309"/>
                  </a:xfrm>
                  <a:custGeom>
                    <a:avLst/>
                    <a:gdLst>
                      <a:gd name="T0" fmla="*/ 682 w 742"/>
                      <a:gd name="T1" fmla="*/ 0 h 120"/>
                      <a:gd name="T2" fmla="*/ 60 w 742"/>
                      <a:gd name="T3" fmla="*/ 0 h 120"/>
                      <a:gd name="T4" fmla="*/ 0 w 742"/>
                      <a:gd name="T5" fmla="*/ 60 h 120"/>
                      <a:gd name="T6" fmla="*/ 0 w 742"/>
                      <a:gd name="T7" fmla="*/ 60 h 120"/>
                      <a:gd name="T8" fmla="*/ 60 w 742"/>
                      <a:gd name="T9" fmla="*/ 120 h 120"/>
                      <a:gd name="T10" fmla="*/ 682 w 742"/>
                      <a:gd name="T11" fmla="*/ 120 h 120"/>
                      <a:gd name="T12" fmla="*/ 742 w 742"/>
                      <a:gd name="T13" fmla="*/ 60 h 120"/>
                      <a:gd name="T14" fmla="*/ 742 w 742"/>
                      <a:gd name="T15" fmla="*/ 60 h 120"/>
                      <a:gd name="T16" fmla="*/ 682 w 742"/>
                      <a:gd name="T17" fmla="*/ 0 h 1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2" h="120">
                        <a:moveTo>
                          <a:pt x="682" y="0"/>
                        </a:moveTo>
                        <a:cubicBezTo>
                          <a:pt x="60" y="0"/>
                          <a:pt x="60" y="0"/>
                          <a:pt x="60" y="0"/>
                        </a:cubicBezTo>
                        <a:cubicBezTo>
                          <a:pt x="25" y="0"/>
                          <a:pt x="0" y="26"/>
                          <a:pt x="0" y="60"/>
                        </a:cubicBezTo>
                        <a:cubicBezTo>
                          <a:pt x="0" y="60"/>
                          <a:pt x="0" y="60"/>
                          <a:pt x="0" y="60"/>
                        </a:cubicBezTo>
                        <a:cubicBezTo>
                          <a:pt x="0" y="94"/>
                          <a:pt x="25" y="120"/>
                          <a:pt x="60" y="120"/>
                        </a:cubicBezTo>
                        <a:cubicBezTo>
                          <a:pt x="682" y="120"/>
                          <a:pt x="682" y="120"/>
                          <a:pt x="682" y="120"/>
                        </a:cubicBezTo>
                        <a:cubicBezTo>
                          <a:pt x="717" y="120"/>
                          <a:pt x="742" y="94"/>
                          <a:pt x="742" y="60"/>
                        </a:cubicBezTo>
                        <a:cubicBezTo>
                          <a:pt x="742" y="60"/>
                          <a:pt x="742" y="60"/>
                          <a:pt x="742" y="60"/>
                        </a:cubicBezTo>
                        <a:cubicBezTo>
                          <a:pt x="742" y="30"/>
                          <a:pt x="712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8F93781-5B10-2304-4988-5628FAAC43AB}"/>
                </a:ext>
              </a:extLst>
            </p:cNvPr>
            <p:cNvSpPr/>
            <p:nvPr/>
          </p:nvSpPr>
          <p:spPr>
            <a:xfrm>
              <a:off x="8174851" y="2753549"/>
              <a:ext cx="384821" cy="482848"/>
            </a:xfrm>
            <a:custGeom>
              <a:avLst/>
              <a:gdLst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3" fmla="*/ 619432 w 665316"/>
                <a:gd name="connsiteY3" fmla="*/ 73304 h 820556"/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3" fmla="*/ 619432 w 665316"/>
                <a:gd name="connsiteY3" fmla="*/ 73304 h 820556"/>
                <a:gd name="connsiteX0" fmla="*/ 0 w 779892"/>
                <a:gd name="connsiteY0" fmla="*/ 820556 h 820556"/>
                <a:gd name="connsiteX1" fmla="*/ 619432 w 779892"/>
                <a:gd name="connsiteY1" fmla="*/ 53640 h 820556"/>
                <a:gd name="connsiteX2" fmla="*/ 619432 w 779892"/>
                <a:gd name="connsiteY2" fmla="*/ 63472 h 820556"/>
                <a:gd name="connsiteX3" fmla="*/ 779892 w 779892"/>
                <a:gd name="connsiteY3" fmla="*/ 88690 h 820556"/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0" fmla="*/ 0 w 850230"/>
                <a:gd name="connsiteY0" fmla="*/ 821083 h 821083"/>
                <a:gd name="connsiteX1" fmla="*/ 619432 w 850230"/>
                <a:gd name="connsiteY1" fmla="*/ 54167 h 821083"/>
                <a:gd name="connsiteX2" fmla="*/ 850230 w 850230"/>
                <a:gd name="connsiteY2" fmla="*/ 61801 h 821083"/>
                <a:gd name="connsiteX0" fmla="*/ 0 w 619432"/>
                <a:gd name="connsiteY0" fmla="*/ 766916 h 766916"/>
                <a:gd name="connsiteX1" fmla="*/ 619432 w 619432"/>
                <a:gd name="connsiteY1" fmla="*/ 0 h 766916"/>
                <a:gd name="connsiteX0" fmla="*/ 0 w 619432"/>
                <a:gd name="connsiteY0" fmla="*/ 766916 h 766916"/>
                <a:gd name="connsiteX1" fmla="*/ 619432 w 619432"/>
                <a:gd name="connsiteY1" fmla="*/ 0 h 76691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8007" h="813076">
                  <a:moveTo>
                    <a:pt x="0" y="813076"/>
                  </a:moveTo>
                  <a:cubicBezTo>
                    <a:pt x="19429" y="200237"/>
                    <a:pt x="483292" y="7257"/>
                    <a:pt x="648007" y="0"/>
                  </a:cubicBezTo>
                </a:path>
              </a:pathLst>
            </a:custGeom>
            <a:noFill/>
            <a:ln w="127000" cap="rnd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06A5F95-CF2D-682E-2584-947075B713B4}"/>
                </a:ext>
              </a:extLst>
            </p:cNvPr>
            <p:cNvGrpSpPr/>
            <p:nvPr/>
          </p:nvGrpSpPr>
          <p:grpSpPr>
            <a:xfrm>
              <a:off x="7490474" y="1627835"/>
              <a:ext cx="2467443" cy="1062871"/>
              <a:chOff x="7490474" y="1627835"/>
              <a:chExt cx="2467443" cy="1062871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CADD288-62BD-B171-BBAF-8FDEAA6C87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2954" y="1627835"/>
                <a:ext cx="0" cy="499690"/>
              </a:xfrm>
              <a:prstGeom prst="line">
                <a:avLst/>
              </a:prstGeom>
              <a:ln w="38100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A92428AE-005B-B70A-C216-D52BB6DBD41F}"/>
                  </a:ext>
                </a:extLst>
              </p:cNvPr>
              <p:cNvGrpSpPr/>
              <p:nvPr/>
            </p:nvGrpSpPr>
            <p:grpSpPr>
              <a:xfrm>
                <a:off x="7490474" y="1879042"/>
                <a:ext cx="849658" cy="811664"/>
                <a:chOff x="7490474" y="1879042"/>
                <a:chExt cx="849658" cy="811664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F9B867E-68A4-335F-0B13-DA0F785A6A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61051" y="2020116"/>
                  <a:ext cx="358616" cy="358616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E2D0DED-5A3D-D7ED-7A21-C1E0B59386B8}"/>
                    </a:ext>
                  </a:extLst>
                </p:cNvPr>
                <p:cNvCxnSpPr/>
                <p:nvPr/>
              </p:nvCxnSpPr>
              <p:spPr>
                <a:xfrm flipH="1" flipV="1">
                  <a:off x="7490474" y="2516112"/>
                  <a:ext cx="232792" cy="174594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F2B6A84F-5D3A-ECF0-5795-87C70F946D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219552" y="1879042"/>
                  <a:ext cx="120580" cy="261257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6A6E03C-F284-27F9-8AFC-3A9C9D500B42}"/>
                  </a:ext>
                </a:extLst>
              </p:cNvPr>
              <p:cNvGrpSpPr/>
              <p:nvPr/>
            </p:nvGrpSpPr>
            <p:grpSpPr>
              <a:xfrm flipH="1">
                <a:off x="9108259" y="1879042"/>
                <a:ext cx="849658" cy="811664"/>
                <a:chOff x="7490474" y="1879042"/>
                <a:chExt cx="849658" cy="811664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8E95DB1-1A60-F52B-57DE-EBB34E94C4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61051" y="2020116"/>
                  <a:ext cx="358616" cy="358616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A71FF8E5-A9B3-F28B-CB05-901BA396E642}"/>
                    </a:ext>
                  </a:extLst>
                </p:cNvPr>
                <p:cNvCxnSpPr/>
                <p:nvPr/>
              </p:nvCxnSpPr>
              <p:spPr>
                <a:xfrm flipH="1" flipV="1">
                  <a:off x="7490474" y="2516112"/>
                  <a:ext cx="232792" cy="174594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BBF6C344-C910-7D5C-94AE-7D407671EE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219552" y="1879042"/>
                  <a:ext cx="120580" cy="261257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85B41A0-9DD1-5A43-DEC2-D01C855A0729}"/>
                </a:ext>
              </a:extLst>
            </p:cNvPr>
            <p:cNvGrpSpPr/>
            <p:nvPr/>
          </p:nvGrpSpPr>
          <p:grpSpPr>
            <a:xfrm>
              <a:off x="2896142" y="3147714"/>
              <a:ext cx="1470078" cy="1470078"/>
              <a:chOff x="909836" y="3356992"/>
              <a:chExt cx="756744" cy="75674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808AFE8-0541-162F-A296-52BC2AE1F1D8}"/>
                  </a:ext>
                </a:extLst>
              </p:cNvPr>
              <p:cNvSpPr/>
              <p:nvPr/>
            </p:nvSpPr>
            <p:spPr>
              <a:xfrm>
                <a:off x="909836" y="3356992"/>
                <a:ext cx="756744" cy="756744"/>
              </a:xfrm>
              <a:prstGeom prst="ellipse">
                <a:avLst/>
              </a:prstGeom>
              <a:gradFill flip="none" rotWithShape="1">
                <a:gsLst>
                  <a:gs pos="19000">
                    <a:schemeClr val="accent1"/>
                  </a:gs>
                  <a:gs pos="75000">
                    <a:schemeClr val="accent1">
                      <a:lumMod val="7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2056D3-5AD3-55C3-1703-B0F6783FF2BB}"/>
                  </a:ext>
                </a:extLst>
              </p:cNvPr>
              <p:cNvSpPr/>
              <p:nvPr/>
            </p:nvSpPr>
            <p:spPr>
              <a:xfrm>
                <a:off x="1053852" y="3501008"/>
                <a:ext cx="179614" cy="179614"/>
              </a:xfrm>
              <a:prstGeom prst="ellipse">
                <a:avLst/>
              </a:prstGeom>
              <a:gradFill>
                <a:gsLst>
                  <a:gs pos="19000">
                    <a:schemeClr val="accent6">
                      <a:lumMod val="20000"/>
                      <a:lumOff val="80000"/>
                      <a:alpha val="50000"/>
                    </a:schemeClr>
                  </a:gs>
                  <a:gs pos="100000">
                    <a:schemeClr val="accent6">
                      <a:lumMod val="60000"/>
                      <a:lumOff val="40000"/>
                      <a:alpha val="50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B370E90-FB41-9F0A-5A7F-47F7E051B52B}"/>
                </a:ext>
              </a:extLst>
            </p:cNvPr>
            <p:cNvGrpSpPr/>
            <p:nvPr/>
          </p:nvGrpSpPr>
          <p:grpSpPr>
            <a:xfrm>
              <a:off x="3652846" y="4727585"/>
              <a:ext cx="4050066" cy="2163433"/>
              <a:chOff x="3652846" y="4727585"/>
              <a:chExt cx="4050066" cy="2163433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DD75BE3B-3EDD-C19D-5C85-8FC6C6C77B71}"/>
                  </a:ext>
                </a:extLst>
              </p:cNvPr>
              <p:cNvSpPr/>
              <p:nvPr/>
            </p:nvSpPr>
            <p:spPr>
              <a:xfrm>
                <a:off x="3826779" y="4727585"/>
                <a:ext cx="3876133" cy="2130415"/>
              </a:xfrm>
              <a:custGeom>
                <a:avLst/>
                <a:gdLst>
                  <a:gd name="connsiteX0" fmla="*/ 2809667 w 3876133"/>
                  <a:gd name="connsiteY0" fmla="*/ 11 h 2130415"/>
                  <a:gd name="connsiteX1" fmla="*/ 2943603 w 3876133"/>
                  <a:gd name="connsiteY1" fmla="*/ 60782 h 2130415"/>
                  <a:gd name="connsiteX2" fmla="*/ 2591061 w 3876133"/>
                  <a:gd name="connsiteY2" fmla="*/ 572537 h 2130415"/>
                  <a:gd name="connsiteX3" fmla="*/ 3045954 w 3876133"/>
                  <a:gd name="connsiteY3" fmla="*/ 174505 h 2130415"/>
                  <a:gd name="connsiteX4" fmla="*/ 3534964 w 3876133"/>
                  <a:gd name="connsiteY4" fmla="*/ 106271 h 2130415"/>
                  <a:gd name="connsiteX5" fmla="*/ 3876133 w 3876133"/>
                  <a:gd name="connsiteY5" fmla="*/ 117644 h 2130415"/>
                  <a:gd name="connsiteX6" fmla="*/ 3375751 w 3876133"/>
                  <a:gd name="connsiteY6" fmla="*/ 561164 h 2130415"/>
                  <a:gd name="connsiteX7" fmla="*/ 2520439 w 3876133"/>
                  <a:gd name="connsiteY7" fmla="*/ 1355294 h 2130415"/>
                  <a:gd name="connsiteX8" fmla="*/ 1635786 w 3876133"/>
                  <a:gd name="connsiteY8" fmla="*/ 2119173 h 2130415"/>
                  <a:gd name="connsiteX9" fmla="*/ 1623398 w 3876133"/>
                  <a:gd name="connsiteY9" fmla="*/ 2130415 h 2130415"/>
                  <a:gd name="connsiteX10" fmla="*/ 0 w 3876133"/>
                  <a:gd name="connsiteY10" fmla="*/ 2130415 h 2130415"/>
                  <a:gd name="connsiteX11" fmla="*/ 21497 w 3876133"/>
                  <a:gd name="connsiteY11" fmla="*/ 2120866 h 2130415"/>
                  <a:gd name="connsiteX12" fmla="*/ 1124032 w 3876133"/>
                  <a:gd name="connsiteY12" fmla="*/ 1493695 h 2130415"/>
                  <a:gd name="connsiteX13" fmla="*/ 1033053 w 3876133"/>
                  <a:gd name="connsiteY13" fmla="*/ 231367 h 2130415"/>
                  <a:gd name="connsiteX14" fmla="*/ 942075 w 3876133"/>
                  <a:gd name="connsiteY14" fmla="*/ 15293 h 2130415"/>
                  <a:gd name="connsiteX15" fmla="*/ 1396967 w 3876133"/>
                  <a:gd name="connsiteY15" fmla="*/ 401952 h 2130415"/>
                  <a:gd name="connsiteX16" fmla="*/ 1658531 w 3876133"/>
                  <a:gd name="connsiteY16" fmla="*/ 856845 h 2130415"/>
                  <a:gd name="connsiteX17" fmla="*/ 2261264 w 3876133"/>
                  <a:gd name="connsiteY17" fmla="*/ 595281 h 2130415"/>
                  <a:gd name="connsiteX18" fmla="*/ 2545572 w 3876133"/>
                  <a:gd name="connsiteY18" fmla="*/ 140388 h 2130415"/>
                  <a:gd name="connsiteX19" fmla="*/ 2809667 w 3876133"/>
                  <a:gd name="connsiteY19" fmla="*/ 11 h 2130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876133" h="2130415">
                    <a:moveTo>
                      <a:pt x="2809667" y="11"/>
                    </a:moveTo>
                    <a:cubicBezTo>
                      <a:pt x="2856712" y="-522"/>
                      <a:pt x="2900957" y="18136"/>
                      <a:pt x="2943603" y="60782"/>
                    </a:cubicBezTo>
                    <a:lnTo>
                      <a:pt x="2591061" y="572537"/>
                    </a:lnTo>
                    <a:cubicBezTo>
                      <a:pt x="2591061" y="572537"/>
                      <a:pt x="2886741" y="288228"/>
                      <a:pt x="3045954" y="174505"/>
                    </a:cubicBezTo>
                    <a:cubicBezTo>
                      <a:pt x="3205166" y="60782"/>
                      <a:pt x="3443985" y="-41569"/>
                      <a:pt x="3534964" y="106271"/>
                    </a:cubicBezTo>
                    <a:cubicBezTo>
                      <a:pt x="3534964" y="106271"/>
                      <a:pt x="3751038" y="-75686"/>
                      <a:pt x="3876133" y="117644"/>
                    </a:cubicBezTo>
                    <a:cubicBezTo>
                      <a:pt x="3876133" y="117644"/>
                      <a:pt x="3648687" y="333718"/>
                      <a:pt x="3375751" y="561164"/>
                    </a:cubicBezTo>
                    <a:cubicBezTo>
                      <a:pt x="3102816" y="788611"/>
                      <a:pt x="2779500" y="1171403"/>
                      <a:pt x="2520439" y="1355294"/>
                    </a:cubicBezTo>
                    <a:cubicBezTo>
                      <a:pt x="2261378" y="1539184"/>
                      <a:pt x="1817743" y="1948588"/>
                      <a:pt x="1635786" y="2119173"/>
                    </a:cubicBezTo>
                    <a:lnTo>
                      <a:pt x="1623398" y="2130415"/>
                    </a:lnTo>
                    <a:lnTo>
                      <a:pt x="0" y="2130415"/>
                    </a:lnTo>
                    <a:lnTo>
                      <a:pt x="21497" y="2120866"/>
                    </a:lnTo>
                    <a:cubicBezTo>
                      <a:pt x="547820" y="1883330"/>
                      <a:pt x="1039450" y="1633006"/>
                      <a:pt x="1124032" y="1493695"/>
                    </a:cubicBezTo>
                    <a:cubicBezTo>
                      <a:pt x="1317361" y="1175270"/>
                      <a:pt x="1135404" y="333718"/>
                      <a:pt x="1033053" y="231367"/>
                    </a:cubicBezTo>
                    <a:cubicBezTo>
                      <a:pt x="930702" y="129016"/>
                      <a:pt x="805607" y="72154"/>
                      <a:pt x="942075" y="15293"/>
                    </a:cubicBezTo>
                    <a:cubicBezTo>
                      <a:pt x="1078542" y="-41569"/>
                      <a:pt x="1351478" y="106271"/>
                      <a:pt x="1396967" y="401952"/>
                    </a:cubicBezTo>
                    <a:cubicBezTo>
                      <a:pt x="1442002" y="694448"/>
                      <a:pt x="1658531" y="856845"/>
                      <a:pt x="1658531" y="856845"/>
                    </a:cubicBezTo>
                    <a:cubicBezTo>
                      <a:pt x="1658531" y="856845"/>
                      <a:pt x="2090679" y="902334"/>
                      <a:pt x="2261264" y="595281"/>
                    </a:cubicBezTo>
                    <a:cubicBezTo>
                      <a:pt x="2261264" y="595281"/>
                      <a:pt x="2386359" y="276856"/>
                      <a:pt x="2545572" y="140388"/>
                    </a:cubicBezTo>
                    <a:cubicBezTo>
                      <a:pt x="2645080" y="55095"/>
                      <a:pt x="2731261" y="899"/>
                      <a:pt x="2809667" y="11"/>
                    </a:cubicBezTo>
                    <a:close/>
                  </a:path>
                </a:pathLst>
              </a:custGeom>
              <a:solidFill>
                <a:srgbClr val="F79D7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03D22AC3-FF22-9428-4D29-0B87F6158384}"/>
                  </a:ext>
                </a:extLst>
              </p:cNvPr>
              <p:cNvSpPr/>
              <p:nvPr/>
            </p:nvSpPr>
            <p:spPr>
              <a:xfrm>
                <a:off x="6580211" y="4792312"/>
                <a:ext cx="214164" cy="241582"/>
              </a:xfrm>
              <a:custGeom>
                <a:avLst/>
                <a:gdLst>
                  <a:gd name="connsiteX0" fmla="*/ 214165 w 214164"/>
                  <a:gd name="connsiteY0" fmla="*/ 7427 h 241582"/>
                  <a:gd name="connsiteX1" fmla="*/ 87818 w 214164"/>
                  <a:gd name="connsiteY1" fmla="*/ 18799 h 241582"/>
                  <a:gd name="connsiteX2" fmla="*/ 21063 w 214164"/>
                  <a:gd name="connsiteY2" fmla="*/ 241583 h 241582"/>
                  <a:gd name="connsiteX3" fmla="*/ 214165 w 214164"/>
                  <a:gd name="connsiteY3" fmla="*/ 7427 h 24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164" h="241582">
                    <a:moveTo>
                      <a:pt x="214165" y="7427"/>
                    </a:moveTo>
                    <a:cubicBezTo>
                      <a:pt x="214165" y="7427"/>
                      <a:pt x="144680" y="-15318"/>
                      <a:pt x="87818" y="18799"/>
                    </a:cubicBezTo>
                    <a:cubicBezTo>
                      <a:pt x="30957" y="52916"/>
                      <a:pt x="-34434" y="168686"/>
                      <a:pt x="21063" y="241583"/>
                    </a:cubicBezTo>
                    <a:lnTo>
                      <a:pt x="214165" y="7427"/>
                    </a:ln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01395FF-8848-A0EB-F5BF-46AD1D79ED9E}"/>
                  </a:ext>
                </a:extLst>
              </p:cNvPr>
              <p:cNvSpPr/>
              <p:nvPr/>
            </p:nvSpPr>
            <p:spPr>
              <a:xfrm>
                <a:off x="7122922" y="4813777"/>
                <a:ext cx="238818" cy="207722"/>
              </a:xfrm>
              <a:custGeom>
                <a:avLst/>
                <a:gdLst>
                  <a:gd name="connsiteX0" fmla="*/ 42874 w 238818"/>
                  <a:gd name="connsiteY0" fmla="*/ 207722 h 207722"/>
                  <a:gd name="connsiteX1" fmla="*/ 0 w 238818"/>
                  <a:gd name="connsiteY1" fmla="*/ 145175 h 207722"/>
                  <a:gd name="connsiteX2" fmla="*/ 225741 w 238818"/>
                  <a:gd name="connsiteY2" fmla="*/ 1656 h 207722"/>
                  <a:gd name="connsiteX3" fmla="*/ 238819 w 238818"/>
                  <a:gd name="connsiteY3" fmla="*/ 20079 h 207722"/>
                  <a:gd name="connsiteX4" fmla="*/ 42874 w 238818"/>
                  <a:gd name="connsiteY4" fmla="*/ 207722 h 20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818" h="207722">
                    <a:moveTo>
                      <a:pt x="42874" y="207722"/>
                    </a:moveTo>
                    <a:cubicBezTo>
                      <a:pt x="42874" y="207722"/>
                      <a:pt x="0" y="167919"/>
                      <a:pt x="0" y="145175"/>
                    </a:cubicBezTo>
                    <a:cubicBezTo>
                      <a:pt x="0" y="122430"/>
                      <a:pt x="121570" y="-16654"/>
                      <a:pt x="225741" y="1656"/>
                    </a:cubicBezTo>
                    <a:cubicBezTo>
                      <a:pt x="225741" y="1656"/>
                      <a:pt x="238819" y="8707"/>
                      <a:pt x="238819" y="20079"/>
                    </a:cubicBezTo>
                    <a:cubicBezTo>
                      <a:pt x="238819" y="31451"/>
                      <a:pt x="42874" y="207722"/>
                      <a:pt x="42874" y="207722"/>
                    </a:cubicBez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46CED01-6A3A-733B-47C1-C8BB854226D7}"/>
                  </a:ext>
                </a:extLst>
              </p:cNvPr>
              <p:cNvSpPr/>
              <p:nvPr/>
            </p:nvSpPr>
            <p:spPr>
              <a:xfrm>
                <a:off x="7486022" y="4837950"/>
                <a:ext cx="216888" cy="173655"/>
              </a:xfrm>
              <a:custGeom>
                <a:avLst/>
                <a:gdLst>
                  <a:gd name="connsiteX0" fmla="*/ 814 w 216888"/>
                  <a:gd name="connsiteY0" fmla="*/ 98257 h 173655"/>
                  <a:gd name="connsiteX1" fmla="*/ 35955 w 216888"/>
                  <a:gd name="connsiteY1" fmla="*/ 173655 h 173655"/>
                  <a:gd name="connsiteX2" fmla="*/ 216888 w 216888"/>
                  <a:gd name="connsiteY2" fmla="*/ 7278 h 173655"/>
                  <a:gd name="connsiteX3" fmla="*/ 814 w 216888"/>
                  <a:gd name="connsiteY3" fmla="*/ 98257 h 173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6888" h="173655">
                    <a:moveTo>
                      <a:pt x="814" y="98257"/>
                    </a:moveTo>
                    <a:cubicBezTo>
                      <a:pt x="814" y="98257"/>
                      <a:pt x="-8511" y="157962"/>
                      <a:pt x="35955" y="173655"/>
                    </a:cubicBezTo>
                    <a:lnTo>
                      <a:pt x="216888" y="7278"/>
                    </a:lnTo>
                    <a:cubicBezTo>
                      <a:pt x="216888" y="7278"/>
                      <a:pt x="125910" y="-38211"/>
                      <a:pt x="814" y="98257"/>
                    </a:cubicBez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F780CE1-F12B-A320-A6D1-DAF18B8FDC6F}"/>
                  </a:ext>
                </a:extLst>
              </p:cNvPr>
              <p:cNvSpPr/>
              <p:nvPr/>
            </p:nvSpPr>
            <p:spPr>
              <a:xfrm>
                <a:off x="4687974" y="4798637"/>
                <a:ext cx="228718" cy="170777"/>
              </a:xfrm>
              <a:custGeom>
                <a:avLst/>
                <a:gdLst>
                  <a:gd name="connsiteX0" fmla="*/ 1272 w 228718"/>
                  <a:gd name="connsiteY0" fmla="*/ 46591 h 170777"/>
                  <a:gd name="connsiteX1" fmla="*/ 180614 w 228718"/>
                  <a:gd name="connsiteY1" fmla="*/ 170777 h 170777"/>
                  <a:gd name="connsiteX2" fmla="*/ 228718 w 228718"/>
                  <a:gd name="connsiteY2" fmla="*/ 103453 h 170777"/>
                  <a:gd name="connsiteX3" fmla="*/ 35162 w 228718"/>
                  <a:gd name="connsiteY3" fmla="*/ 1102 h 170777"/>
                  <a:gd name="connsiteX4" fmla="*/ 1272 w 228718"/>
                  <a:gd name="connsiteY4" fmla="*/ 46591 h 17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718" h="170777">
                    <a:moveTo>
                      <a:pt x="1272" y="46591"/>
                    </a:moveTo>
                    <a:lnTo>
                      <a:pt x="180614" y="170777"/>
                    </a:lnTo>
                    <a:cubicBezTo>
                      <a:pt x="180614" y="170777"/>
                      <a:pt x="228718" y="137570"/>
                      <a:pt x="228718" y="103453"/>
                    </a:cubicBezTo>
                    <a:cubicBezTo>
                      <a:pt x="228718" y="69336"/>
                      <a:pt x="80423" y="-10270"/>
                      <a:pt x="35162" y="1102"/>
                    </a:cubicBezTo>
                    <a:cubicBezTo>
                      <a:pt x="-10100" y="12474"/>
                      <a:pt x="1272" y="46591"/>
                      <a:pt x="1272" y="46591"/>
                    </a:cubicBez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CA69CC5-6125-DD8A-8323-B7C41231BDB2}"/>
                  </a:ext>
                </a:extLst>
              </p:cNvPr>
              <p:cNvSpPr/>
              <p:nvPr/>
            </p:nvSpPr>
            <p:spPr>
              <a:xfrm>
                <a:off x="6417838" y="5268961"/>
                <a:ext cx="21380" cy="31160"/>
              </a:xfrm>
              <a:custGeom>
                <a:avLst/>
                <a:gdLst>
                  <a:gd name="connsiteX0" fmla="*/ 0 w 21380"/>
                  <a:gd name="connsiteY0" fmla="*/ 31160 h 31160"/>
                  <a:gd name="connsiteX1" fmla="*/ 7733 w 21380"/>
                  <a:gd name="connsiteY1" fmla="*/ 23654 h 31160"/>
                  <a:gd name="connsiteX2" fmla="*/ 21380 w 21380"/>
                  <a:gd name="connsiteY2" fmla="*/ 0 h 31160"/>
                  <a:gd name="connsiteX3" fmla="*/ 0 w 21380"/>
                  <a:gd name="connsiteY3" fmla="*/ 31160 h 3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80" h="31160">
                    <a:moveTo>
                      <a:pt x="0" y="31160"/>
                    </a:moveTo>
                    <a:cubicBezTo>
                      <a:pt x="0" y="31160"/>
                      <a:pt x="2729" y="28545"/>
                      <a:pt x="7733" y="23654"/>
                    </a:cubicBezTo>
                    <a:lnTo>
                      <a:pt x="21380" y="0"/>
                    </a:lnTo>
                    <a:lnTo>
                      <a:pt x="0" y="31160"/>
                    </a:lnTo>
                    <a:close/>
                  </a:path>
                </a:pathLst>
              </a:custGeom>
              <a:noFill/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EB41718-35B5-60ED-C882-538C419BEFE3}"/>
                  </a:ext>
                </a:extLst>
              </p:cNvPr>
              <p:cNvSpPr/>
              <p:nvPr/>
            </p:nvSpPr>
            <p:spPr>
              <a:xfrm>
                <a:off x="6930502" y="5539850"/>
                <a:ext cx="1819" cy="1819"/>
              </a:xfrm>
              <a:custGeom>
                <a:avLst/>
                <a:gdLst>
                  <a:gd name="connsiteX0" fmla="*/ 1820 w 1819"/>
                  <a:gd name="connsiteY0" fmla="*/ 0 h 1819"/>
                  <a:gd name="connsiteX1" fmla="*/ 1820 w 1819"/>
                  <a:gd name="connsiteY1" fmla="*/ 0 h 1819"/>
                  <a:gd name="connsiteX2" fmla="*/ 0 w 1819"/>
                  <a:gd name="connsiteY2" fmla="*/ 1820 h 1819"/>
                  <a:gd name="connsiteX3" fmla="*/ 1820 w 1819"/>
                  <a:gd name="connsiteY3" fmla="*/ 0 h 1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9" h="1819">
                    <a:moveTo>
                      <a:pt x="1820" y="0"/>
                    </a:moveTo>
                    <a:cubicBezTo>
                      <a:pt x="1820" y="0"/>
                      <a:pt x="1706" y="0"/>
                      <a:pt x="1820" y="0"/>
                    </a:cubicBezTo>
                    <a:cubicBezTo>
                      <a:pt x="1137" y="569"/>
                      <a:pt x="569" y="1251"/>
                      <a:pt x="0" y="1820"/>
                    </a:cubicBezTo>
                    <a:lnTo>
                      <a:pt x="1820" y="0"/>
                    </a:lnTo>
                    <a:close/>
                  </a:path>
                </a:pathLst>
              </a:custGeom>
              <a:solidFill>
                <a:srgbClr val="ED8A63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F09DDF1-56AB-7686-C0FA-360ADD2BF754}"/>
                  </a:ext>
                </a:extLst>
              </p:cNvPr>
              <p:cNvSpPr/>
              <p:nvPr/>
            </p:nvSpPr>
            <p:spPr>
              <a:xfrm>
                <a:off x="6579553" y="5541669"/>
                <a:ext cx="350949" cy="345832"/>
              </a:xfrm>
              <a:custGeom>
                <a:avLst/>
                <a:gdLst>
                  <a:gd name="connsiteX0" fmla="*/ 350950 w 350949"/>
                  <a:gd name="connsiteY0" fmla="*/ 0 h 345832"/>
                  <a:gd name="connsiteX1" fmla="*/ 0 w 350949"/>
                  <a:gd name="connsiteY1" fmla="*/ 345832 h 345832"/>
                  <a:gd name="connsiteX2" fmla="*/ 350950 w 350949"/>
                  <a:gd name="connsiteY2" fmla="*/ 0 h 345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0949" h="345832">
                    <a:moveTo>
                      <a:pt x="350950" y="0"/>
                    </a:moveTo>
                    <a:lnTo>
                      <a:pt x="0" y="345832"/>
                    </a:lnTo>
                    <a:cubicBezTo>
                      <a:pt x="114292" y="238705"/>
                      <a:pt x="233701" y="115998"/>
                      <a:pt x="350950" y="0"/>
                    </a:cubicBezTo>
                    <a:close/>
                  </a:path>
                </a:pathLst>
              </a:custGeom>
              <a:noFill/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B65C268-9647-9FDF-E079-C60B38AF9813}"/>
                  </a:ext>
                </a:extLst>
              </p:cNvPr>
              <p:cNvSpPr/>
              <p:nvPr/>
            </p:nvSpPr>
            <p:spPr>
              <a:xfrm>
                <a:off x="6439332" y="5268961"/>
                <a:ext cx="11372" cy="113"/>
              </a:xfrm>
              <a:custGeom>
                <a:avLst/>
                <a:gdLst>
                  <a:gd name="connsiteX0" fmla="*/ 0 w 11372"/>
                  <a:gd name="connsiteY0" fmla="*/ 114 h 113"/>
                  <a:gd name="connsiteX1" fmla="*/ 0 w 11372"/>
                  <a:gd name="connsiteY1" fmla="*/ 0 h 113"/>
                  <a:gd name="connsiteX2" fmla="*/ 0 w 11372"/>
                  <a:gd name="connsiteY2" fmla="*/ 114 h 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372" h="113">
                    <a:moveTo>
                      <a:pt x="0" y="114"/>
                    </a:moveTo>
                    <a:lnTo>
                      <a:pt x="0" y="0"/>
                    </a:lnTo>
                    <a:lnTo>
                      <a:pt x="0" y="114"/>
                    </a:lnTo>
                    <a:close/>
                  </a:path>
                </a:pathLst>
              </a:custGeom>
              <a:noFill/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DBB3113-1C43-78FA-5224-9E939D7E1D4A}"/>
                  </a:ext>
                </a:extLst>
              </p:cNvPr>
              <p:cNvSpPr/>
              <p:nvPr/>
            </p:nvSpPr>
            <p:spPr>
              <a:xfrm>
                <a:off x="6224509" y="4959748"/>
                <a:ext cx="573164" cy="681543"/>
              </a:xfrm>
              <a:custGeom>
                <a:avLst/>
                <a:gdLst>
                  <a:gd name="connsiteX0" fmla="*/ 0 w 573164"/>
                  <a:gd name="connsiteY0" fmla="*/ 681543 h 681543"/>
                  <a:gd name="connsiteX1" fmla="*/ 573165 w 573164"/>
                  <a:gd name="connsiteY1" fmla="*/ 0 h 681543"/>
                  <a:gd name="connsiteX2" fmla="*/ 201063 w 573164"/>
                  <a:gd name="connsiteY2" fmla="*/ 332982 h 681543"/>
                  <a:gd name="connsiteX3" fmla="*/ 0 w 573164"/>
                  <a:gd name="connsiteY3" fmla="*/ 681543 h 68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164" h="681543">
                    <a:moveTo>
                      <a:pt x="0" y="681543"/>
                    </a:moveTo>
                    <a:lnTo>
                      <a:pt x="573165" y="0"/>
                    </a:lnTo>
                    <a:cubicBezTo>
                      <a:pt x="428964" y="116680"/>
                      <a:pt x="241207" y="294657"/>
                      <a:pt x="201063" y="332982"/>
                    </a:cubicBezTo>
                    <a:lnTo>
                      <a:pt x="0" y="681543"/>
                    </a:lnTo>
                    <a:close/>
                  </a:path>
                </a:pathLst>
              </a:custGeom>
              <a:solidFill>
                <a:srgbClr val="EA8B62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2611962D-D6EB-E8CB-4BD7-0592CF2FD0A6}"/>
                  </a:ext>
                </a:extLst>
              </p:cNvPr>
              <p:cNvSpPr/>
              <p:nvPr/>
            </p:nvSpPr>
            <p:spPr>
              <a:xfrm>
                <a:off x="6622540" y="4799739"/>
                <a:ext cx="789352" cy="807434"/>
              </a:xfrm>
              <a:custGeom>
                <a:avLst/>
                <a:gdLst>
                  <a:gd name="connsiteX0" fmla="*/ 0 w 789352"/>
                  <a:gd name="connsiteY0" fmla="*/ 807435 h 807434"/>
                  <a:gd name="connsiteX1" fmla="*/ 511754 w 789352"/>
                  <a:gd name="connsiteY1" fmla="*/ 295680 h 807434"/>
                  <a:gd name="connsiteX2" fmla="*/ 789353 w 789352"/>
                  <a:gd name="connsiteY2" fmla="*/ 0 h 807434"/>
                  <a:gd name="connsiteX3" fmla="*/ 789353 w 789352"/>
                  <a:gd name="connsiteY3" fmla="*/ 0 h 807434"/>
                  <a:gd name="connsiteX4" fmla="*/ 739201 w 789352"/>
                  <a:gd name="connsiteY4" fmla="*/ 34117 h 807434"/>
                  <a:gd name="connsiteX5" fmla="*/ 511754 w 789352"/>
                  <a:gd name="connsiteY5" fmla="*/ 250191 h 807434"/>
                  <a:gd name="connsiteX6" fmla="*/ 0 w 789352"/>
                  <a:gd name="connsiteY6" fmla="*/ 807435 h 807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9352" h="807434">
                    <a:moveTo>
                      <a:pt x="0" y="807435"/>
                    </a:moveTo>
                    <a:cubicBezTo>
                      <a:pt x="0" y="807435"/>
                      <a:pt x="386659" y="432148"/>
                      <a:pt x="511754" y="295680"/>
                    </a:cubicBezTo>
                    <a:cubicBezTo>
                      <a:pt x="636850" y="159213"/>
                      <a:pt x="771271" y="68234"/>
                      <a:pt x="789353" y="0"/>
                    </a:cubicBezTo>
                    <a:lnTo>
                      <a:pt x="789353" y="0"/>
                    </a:lnTo>
                    <a:cubicBezTo>
                      <a:pt x="758761" y="17741"/>
                      <a:pt x="739201" y="34117"/>
                      <a:pt x="739201" y="34117"/>
                    </a:cubicBezTo>
                    <a:cubicBezTo>
                      <a:pt x="739201" y="34117"/>
                      <a:pt x="614105" y="159213"/>
                      <a:pt x="511754" y="250191"/>
                    </a:cubicBezTo>
                    <a:cubicBezTo>
                      <a:pt x="409404" y="341170"/>
                      <a:pt x="0" y="807435"/>
                      <a:pt x="0" y="807435"/>
                    </a:cubicBezTo>
                    <a:close/>
                  </a:path>
                </a:pathLst>
              </a:custGeom>
              <a:solidFill>
                <a:srgbClr val="EA8B62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64C8824C-9E0A-3876-926C-608B58F25289}"/>
                  </a:ext>
                </a:extLst>
              </p:cNvPr>
              <p:cNvSpPr/>
              <p:nvPr/>
            </p:nvSpPr>
            <p:spPr>
              <a:xfrm flipV="1">
                <a:off x="5314397" y="5539850"/>
                <a:ext cx="1617812" cy="1318150"/>
              </a:xfrm>
              <a:custGeom>
                <a:avLst/>
                <a:gdLst>
                  <a:gd name="connsiteX0" fmla="*/ 1617812 w 1617812"/>
                  <a:gd name="connsiteY0" fmla="*/ 1318150 h 1318150"/>
                  <a:gd name="connsiteX1" fmla="*/ 1616106 w 1617812"/>
                  <a:gd name="connsiteY1" fmla="*/ 1316444 h 1318150"/>
                  <a:gd name="connsiteX2" fmla="*/ 1265156 w 1617812"/>
                  <a:gd name="connsiteY2" fmla="*/ 970612 h 1318150"/>
                  <a:gd name="connsiteX3" fmla="*/ 1032820 w 1617812"/>
                  <a:gd name="connsiteY3" fmla="*/ 775122 h 1318150"/>
                  <a:gd name="connsiteX4" fmla="*/ 148167 w 1617812"/>
                  <a:gd name="connsiteY4" fmla="*/ 11243 h 1318150"/>
                  <a:gd name="connsiteX5" fmla="*/ 135778 w 1617812"/>
                  <a:gd name="connsiteY5" fmla="*/ 0 h 1318150"/>
                  <a:gd name="connsiteX6" fmla="*/ 0 w 1617812"/>
                  <a:gd name="connsiteY6" fmla="*/ 0 h 1318150"/>
                  <a:gd name="connsiteX7" fmla="*/ 34911 w 1617812"/>
                  <a:gd name="connsiteY7" fmla="*/ 25009 h 1318150"/>
                  <a:gd name="connsiteX8" fmla="*/ 504348 w 1617812"/>
                  <a:gd name="connsiteY8" fmla="*/ 388463 h 1318150"/>
                  <a:gd name="connsiteX9" fmla="*/ 1617812 w 1617812"/>
                  <a:gd name="connsiteY9" fmla="*/ 1318150 h 131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7812" h="1318150">
                    <a:moveTo>
                      <a:pt x="1617812" y="1318150"/>
                    </a:moveTo>
                    <a:cubicBezTo>
                      <a:pt x="1617243" y="1317581"/>
                      <a:pt x="1616675" y="1317013"/>
                      <a:pt x="1616106" y="1316444"/>
                    </a:cubicBezTo>
                    <a:lnTo>
                      <a:pt x="1265156" y="970612"/>
                    </a:lnTo>
                    <a:cubicBezTo>
                      <a:pt x="1184299" y="894872"/>
                      <a:pt x="1106058" y="827093"/>
                      <a:pt x="1032820" y="775122"/>
                    </a:cubicBezTo>
                    <a:cubicBezTo>
                      <a:pt x="773645" y="591231"/>
                      <a:pt x="330124" y="181827"/>
                      <a:pt x="148167" y="11243"/>
                    </a:cubicBezTo>
                    <a:lnTo>
                      <a:pt x="135778" y="0"/>
                    </a:lnTo>
                    <a:lnTo>
                      <a:pt x="0" y="0"/>
                    </a:lnTo>
                    <a:lnTo>
                      <a:pt x="34911" y="25009"/>
                    </a:lnTo>
                    <a:cubicBezTo>
                      <a:pt x="239345" y="172979"/>
                      <a:pt x="407911" y="301635"/>
                      <a:pt x="504348" y="388463"/>
                    </a:cubicBezTo>
                    <a:cubicBezTo>
                      <a:pt x="943433" y="783878"/>
                      <a:pt x="1615424" y="1316217"/>
                      <a:pt x="1617812" y="1318150"/>
                    </a:cubicBezTo>
                    <a:close/>
                  </a:path>
                </a:pathLst>
              </a:custGeom>
              <a:solidFill>
                <a:srgbClr val="EA8B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8743F76-7141-5BEC-ABED-C5574F4303FD}"/>
                  </a:ext>
                </a:extLst>
              </p:cNvPr>
              <p:cNvSpPr/>
              <p:nvPr/>
            </p:nvSpPr>
            <p:spPr>
              <a:xfrm>
                <a:off x="3652846" y="6352854"/>
                <a:ext cx="2177381" cy="538164"/>
              </a:xfrm>
              <a:custGeom>
                <a:avLst/>
                <a:gdLst>
                  <a:gd name="connsiteX0" fmla="*/ 599122 w 2177381"/>
                  <a:gd name="connsiteY0" fmla="*/ 0 h 366765"/>
                  <a:gd name="connsiteX1" fmla="*/ 2177381 w 2177381"/>
                  <a:gd name="connsiteY1" fmla="*/ 221063 h 366765"/>
                  <a:gd name="connsiteX2" fmla="*/ 1998820 w 2177381"/>
                  <a:gd name="connsiteY2" fmla="*/ 366765 h 366765"/>
                  <a:gd name="connsiteX3" fmla="*/ 0 w 2177381"/>
                  <a:gd name="connsiteY3" fmla="*/ 366765 h 366765"/>
                  <a:gd name="connsiteX4" fmla="*/ 599122 w 2177381"/>
                  <a:gd name="connsiteY4" fmla="*/ 0 h 36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77381" h="366765">
                    <a:moveTo>
                      <a:pt x="599122" y="0"/>
                    </a:moveTo>
                    <a:lnTo>
                      <a:pt x="2177381" y="221063"/>
                    </a:lnTo>
                    <a:lnTo>
                      <a:pt x="1998820" y="366765"/>
                    </a:lnTo>
                    <a:lnTo>
                      <a:pt x="0" y="366765"/>
                    </a:lnTo>
                    <a:lnTo>
                      <a:pt x="599122" y="0"/>
                    </a:lnTo>
                    <a:close/>
                  </a:path>
                </a:pathLst>
              </a:custGeom>
              <a:gradFill>
                <a:gsLst>
                  <a:gs pos="19000">
                    <a:schemeClr val="accent5"/>
                  </a:gs>
                  <a:gs pos="75000">
                    <a:schemeClr val="accent5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88FBF4A-D9DB-8B49-4EE1-1A12BD7EC0BA}"/>
              </a:ext>
            </a:extLst>
          </p:cNvPr>
          <p:cNvGrpSpPr/>
          <p:nvPr/>
        </p:nvGrpSpPr>
        <p:grpSpPr>
          <a:xfrm>
            <a:off x="498996" y="1542776"/>
            <a:ext cx="2934376" cy="1284153"/>
            <a:chOff x="7663543" y="1850570"/>
            <a:chExt cx="3111389" cy="1284153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50C7E01-B6DE-70E4-1CA7-72B85F70A7A2}"/>
                </a:ext>
              </a:extLst>
            </p:cNvPr>
            <p:cNvSpPr txBox="1"/>
            <p:nvPr/>
          </p:nvSpPr>
          <p:spPr>
            <a:xfrm>
              <a:off x="7663543" y="2270177"/>
              <a:ext cx="3111389" cy="8645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r" defTabSz="121898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MY" sz="1200" dirty="0"/>
                <a:t>❌ Requires phone/email</a:t>
              </a:r>
              <a:br>
                <a:rPr lang="en-MY" sz="1200" dirty="0"/>
              </a:br>
              <a:r>
                <a:rPr lang="en-MY" sz="1200" dirty="0"/>
                <a:t>❌ Leaks metadata (IP, device info)</a:t>
              </a:r>
              <a:br>
                <a:rPr lang="en-MY" sz="1200" dirty="0"/>
              </a:br>
              <a:r>
                <a:rPr lang="en-MY" sz="1200" dirty="0"/>
                <a:t>❌ Only pseudonymity (blockchain address traceable)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FC6EC55-D1C0-45F1-43EC-65839699377C}"/>
                </a:ext>
              </a:extLst>
            </p:cNvPr>
            <p:cNvSpPr txBox="1"/>
            <p:nvPr/>
          </p:nvSpPr>
          <p:spPr>
            <a:xfrm>
              <a:off x="7663543" y="1850570"/>
              <a:ext cx="3111389" cy="2958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r" defTabSz="121898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Segoe UI Light" panose="020B0502040204020203" pitchFamily="34" charset="0"/>
                </a:rPr>
                <a:t>Heavy Traditional Methods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CE0A601-EBA5-CF3E-6A03-A12BE002B640}"/>
              </a:ext>
            </a:extLst>
          </p:cNvPr>
          <p:cNvGrpSpPr/>
          <p:nvPr/>
        </p:nvGrpSpPr>
        <p:grpSpPr>
          <a:xfrm>
            <a:off x="8496775" y="4998395"/>
            <a:ext cx="3348716" cy="1008112"/>
            <a:chOff x="7663543" y="1850570"/>
            <a:chExt cx="3111389" cy="1008112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2D36257-7043-46C1-B439-C633BB715E93}"/>
                </a:ext>
              </a:extLst>
            </p:cNvPr>
            <p:cNvSpPr txBox="1"/>
            <p:nvPr/>
          </p:nvSpPr>
          <p:spPr>
            <a:xfrm>
              <a:off x="7663543" y="2270177"/>
              <a:ext cx="3111389" cy="5885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MY" sz="1200" dirty="0"/>
                <a:t>✅ Anonymous Authentication (ZKP + blockchain)</a:t>
              </a:r>
              <a:br>
                <a:rPr lang="en-MY" sz="1200" dirty="0"/>
              </a:br>
              <a:r>
                <a:rPr lang="en-MY" sz="1200" dirty="0"/>
                <a:t>✅ End-to-End Encryption (AES-GCM)</a:t>
              </a:r>
              <a:br>
                <a:rPr lang="en-MY" sz="1200" dirty="0"/>
              </a:br>
              <a:r>
                <a:rPr lang="en-MY" sz="1200" dirty="0"/>
                <a:t>✅ Ephemeral Messaging (auto-delete, no logs)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36B6605-F835-9041-90D3-15A50E3B38D4}"/>
                </a:ext>
              </a:extLst>
            </p:cNvPr>
            <p:cNvSpPr txBox="1"/>
            <p:nvPr/>
          </p:nvSpPr>
          <p:spPr>
            <a:xfrm>
              <a:off x="7663543" y="1850570"/>
              <a:ext cx="3111389" cy="2958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Segoe UI Light" panose="020B0502040204020203" pitchFamily="34" charset="0"/>
                </a:rPr>
                <a:t>Our Solution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9417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FB41-9DC1-604E-F56F-AD453963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FFFFFF"/>
                </a:highlight>
              </a:rPr>
              <a:t>Our Solution: Lightweight but Powerful Privacy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A9C1B1A-5BEF-7AAE-3EC5-6EC8661DA137}"/>
              </a:ext>
            </a:extLst>
          </p:cNvPr>
          <p:cNvSpPr/>
          <p:nvPr/>
        </p:nvSpPr>
        <p:spPr>
          <a:xfrm>
            <a:off x="2437527" y="4727585"/>
            <a:ext cx="5265384" cy="3350681"/>
          </a:xfrm>
          <a:custGeom>
            <a:avLst/>
            <a:gdLst>
              <a:gd name="connsiteX0" fmla="*/ 5265384 w 5265384"/>
              <a:gd name="connsiteY0" fmla="*/ 117644 h 3350681"/>
              <a:gd name="connsiteX1" fmla="*/ 4974367 w 5265384"/>
              <a:gd name="connsiteY1" fmla="*/ 72154 h 3350681"/>
              <a:gd name="connsiteX2" fmla="*/ 4696768 w 5265384"/>
              <a:gd name="connsiteY2" fmla="*/ 367835 h 3350681"/>
              <a:gd name="connsiteX3" fmla="*/ 4185014 w 5265384"/>
              <a:gd name="connsiteY3" fmla="*/ 879589 h 3350681"/>
              <a:gd name="connsiteX4" fmla="*/ 4696768 w 5265384"/>
              <a:gd name="connsiteY4" fmla="*/ 322345 h 3350681"/>
              <a:gd name="connsiteX5" fmla="*/ 4924215 w 5265384"/>
              <a:gd name="connsiteY5" fmla="*/ 106271 h 3350681"/>
              <a:gd name="connsiteX6" fmla="*/ 4435205 w 5265384"/>
              <a:gd name="connsiteY6" fmla="*/ 174505 h 3350681"/>
              <a:gd name="connsiteX7" fmla="*/ 4360148 w 5265384"/>
              <a:gd name="connsiteY7" fmla="*/ 232163 h 3350681"/>
              <a:gd name="connsiteX8" fmla="*/ 3786983 w 5265384"/>
              <a:gd name="connsiteY8" fmla="*/ 913706 h 3350681"/>
              <a:gd name="connsiteX9" fmla="*/ 3988045 w 5265384"/>
              <a:gd name="connsiteY9" fmla="*/ 565031 h 3350681"/>
              <a:gd name="connsiteX10" fmla="*/ 3980312 w 5265384"/>
              <a:gd name="connsiteY10" fmla="*/ 572537 h 3350681"/>
              <a:gd name="connsiteX11" fmla="*/ 4001806 w 5265384"/>
              <a:gd name="connsiteY11" fmla="*/ 541376 h 3350681"/>
              <a:gd name="connsiteX12" fmla="*/ 4001806 w 5265384"/>
              <a:gd name="connsiteY12" fmla="*/ 541376 h 3350681"/>
              <a:gd name="connsiteX13" fmla="*/ 4001806 w 5265384"/>
              <a:gd name="connsiteY13" fmla="*/ 541376 h 3350681"/>
              <a:gd name="connsiteX14" fmla="*/ 4332854 w 5265384"/>
              <a:gd name="connsiteY14" fmla="*/ 60782 h 3350681"/>
              <a:gd name="connsiteX15" fmla="*/ 3934823 w 5265384"/>
              <a:gd name="connsiteY15" fmla="*/ 140388 h 3350681"/>
              <a:gd name="connsiteX16" fmla="*/ 3650515 w 5265384"/>
              <a:gd name="connsiteY16" fmla="*/ 595281 h 3350681"/>
              <a:gd name="connsiteX17" fmla="*/ 3047782 w 5265384"/>
              <a:gd name="connsiteY17" fmla="*/ 856845 h 3350681"/>
              <a:gd name="connsiteX18" fmla="*/ 2786218 w 5265384"/>
              <a:gd name="connsiteY18" fmla="*/ 401952 h 3350681"/>
              <a:gd name="connsiteX19" fmla="*/ 2331326 w 5265384"/>
              <a:gd name="connsiteY19" fmla="*/ 15293 h 3350681"/>
              <a:gd name="connsiteX20" fmla="*/ 2422304 w 5265384"/>
              <a:gd name="connsiteY20" fmla="*/ 231367 h 3350681"/>
              <a:gd name="connsiteX21" fmla="*/ 2513283 w 5265384"/>
              <a:gd name="connsiteY21" fmla="*/ 1493695 h 3350681"/>
              <a:gd name="connsiteX22" fmla="*/ 0 w 5265384"/>
              <a:gd name="connsiteY22" fmla="*/ 2710533 h 3350681"/>
              <a:gd name="connsiteX23" fmla="*/ 1082531 w 5265384"/>
              <a:gd name="connsiteY23" fmla="*/ 3350682 h 3350681"/>
              <a:gd name="connsiteX24" fmla="*/ 3381218 w 5265384"/>
              <a:gd name="connsiteY24" fmla="*/ 1741953 h 3350681"/>
              <a:gd name="connsiteX25" fmla="*/ 4494682 w 5265384"/>
              <a:gd name="connsiteY25" fmla="*/ 812265 h 3350681"/>
              <a:gd name="connsiteX26" fmla="*/ 4765002 w 5265384"/>
              <a:gd name="connsiteY26" fmla="*/ 561164 h 3350681"/>
              <a:gd name="connsiteX27" fmla="*/ 5265384 w 5265384"/>
              <a:gd name="connsiteY27" fmla="*/ 117644 h 335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65384" h="3350681">
                <a:moveTo>
                  <a:pt x="5265384" y="117644"/>
                </a:moveTo>
                <a:cubicBezTo>
                  <a:pt x="5177817" y="-17687"/>
                  <a:pt x="5045785" y="30873"/>
                  <a:pt x="4974367" y="72154"/>
                </a:cubicBezTo>
                <a:cubicBezTo>
                  <a:pt x="4956285" y="140388"/>
                  <a:pt x="4821864" y="231367"/>
                  <a:pt x="4696768" y="367835"/>
                </a:cubicBezTo>
                <a:cubicBezTo>
                  <a:pt x="4571673" y="504303"/>
                  <a:pt x="4185014" y="879589"/>
                  <a:pt x="4185014" y="879589"/>
                </a:cubicBezTo>
                <a:cubicBezTo>
                  <a:pt x="4185014" y="879589"/>
                  <a:pt x="4594417" y="413324"/>
                  <a:pt x="4696768" y="322345"/>
                </a:cubicBezTo>
                <a:cubicBezTo>
                  <a:pt x="4799119" y="231367"/>
                  <a:pt x="4924215" y="106271"/>
                  <a:pt x="4924215" y="106271"/>
                </a:cubicBezTo>
                <a:cubicBezTo>
                  <a:pt x="4833236" y="-41569"/>
                  <a:pt x="4594417" y="60782"/>
                  <a:pt x="4435205" y="174505"/>
                </a:cubicBezTo>
                <a:cubicBezTo>
                  <a:pt x="4412574" y="190654"/>
                  <a:pt x="4387100" y="210328"/>
                  <a:pt x="4360148" y="232163"/>
                </a:cubicBezTo>
                <a:lnTo>
                  <a:pt x="3786983" y="913706"/>
                </a:lnTo>
                <a:lnTo>
                  <a:pt x="3988045" y="565031"/>
                </a:lnTo>
                <a:cubicBezTo>
                  <a:pt x="3983041" y="569807"/>
                  <a:pt x="3980312" y="572537"/>
                  <a:pt x="3980312" y="572537"/>
                </a:cubicBezTo>
                <a:lnTo>
                  <a:pt x="4001806" y="541376"/>
                </a:lnTo>
                <a:lnTo>
                  <a:pt x="4001806" y="541376"/>
                </a:lnTo>
                <a:lnTo>
                  <a:pt x="4001806" y="541376"/>
                </a:lnTo>
                <a:lnTo>
                  <a:pt x="4332854" y="60782"/>
                </a:lnTo>
                <a:cubicBezTo>
                  <a:pt x="4219131" y="-52941"/>
                  <a:pt x="4094035" y="3920"/>
                  <a:pt x="3934823" y="140388"/>
                </a:cubicBezTo>
                <a:cubicBezTo>
                  <a:pt x="3775610" y="276856"/>
                  <a:pt x="3650515" y="595281"/>
                  <a:pt x="3650515" y="595281"/>
                </a:cubicBezTo>
                <a:cubicBezTo>
                  <a:pt x="3479930" y="902334"/>
                  <a:pt x="3047782" y="856845"/>
                  <a:pt x="3047782" y="856845"/>
                </a:cubicBezTo>
                <a:cubicBezTo>
                  <a:pt x="3047782" y="856845"/>
                  <a:pt x="2831253" y="694448"/>
                  <a:pt x="2786218" y="401952"/>
                </a:cubicBezTo>
                <a:cubicBezTo>
                  <a:pt x="2740729" y="106271"/>
                  <a:pt x="2467793" y="-41569"/>
                  <a:pt x="2331326" y="15293"/>
                </a:cubicBezTo>
                <a:cubicBezTo>
                  <a:pt x="2194858" y="72154"/>
                  <a:pt x="2319953" y="129016"/>
                  <a:pt x="2422304" y="231367"/>
                </a:cubicBezTo>
                <a:cubicBezTo>
                  <a:pt x="2524655" y="333718"/>
                  <a:pt x="2706612" y="1175270"/>
                  <a:pt x="2513283" y="1493695"/>
                </a:cubicBezTo>
                <a:cubicBezTo>
                  <a:pt x="2319953" y="1812120"/>
                  <a:pt x="0" y="2710533"/>
                  <a:pt x="0" y="2710533"/>
                </a:cubicBezTo>
                <a:lnTo>
                  <a:pt x="1082531" y="3350682"/>
                </a:lnTo>
                <a:cubicBezTo>
                  <a:pt x="1455657" y="3105835"/>
                  <a:pt x="2995469" y="2089263"/>
                  <a:pt x="3381218" y="1741953"/>
                </a:cubicBezTo>
                <a:cubicBezTo>
                  <a:pt x="3820303" y="1346651"/>
                  <a:pt x="4492294" y="814198"/>
                  <a:pt x="4494682" y="812265"/>
                </a:cubicBezTo>
                <a:cubicBezTo>
                  <a:pt x="4587367" y="720490"/>
                  <a:pt x="4678686" y="633037"/>
                  <a:pt x="4765002" y="561164"/>
                </a:cubicBezTo>
                <a:cubicBezTo>
                  <a:pt x="5037938" y="333718"/>
                  <a:pt x="5265384" y="117644"/>
                  <a:pt x="5265384" y="117644"/>
                </a:cubicBezTo>
                <a:close/>
              </a:path>
            </a:pathLst>
          </a:custGeom>
          <a:noFill/>
          <a:ln w="113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4ECB100-F72A-A51C-5639-2282F01BC23E}"/>
              </a:ext>
            </a:extLst>
          </p:cNvPr>
          <p:cNvGrpSpPr/>
          <p:nvPr/>
        </p:nvGrpSpPr>
        <p:grpSpPr>
          <a:xfrm>
            <a:off x="-3401694" y="1293223"/>
            <a:ext cx="7779005" cy="5597795"/>
            <a:chOff x="2643907" y="1627835"/>
            <a:chExt cx="7314010" cy="5263183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9AEF332-E316-14CA-C245-F5283D42681B}"/>
                </a:ext>
              </a:extLst>
            </p:cNvPr>
            <p:cNvGrpSpPr/>
            <p:nvPr/>
          </p:nvGrpSpPr>
          <p:grpSpPr>
            <a:xfrm>
              <a:off x="2643907" y="4611243"/>
              <a:ext cx="7100168" cy="290990"/>
              <a:chOff x="2643907" y="4611243"/>
              <a:chExt cx="7100168" cy="29099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99D661B-4838-AADD-6D05-487CE593A61D}"/>
                  </a:ext>
                </a:extLst>
              </p:cNvPr>
              <p:cNvSpPr/>
              <p:nvPr/>
            </p:nvSpPr>
            <p:spPr>
              <a:xfrm>
                <a:off x="2643907" y="4611243"/>
                <a:ext cx="7100168" cy="11639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62000">
                    <a:schemeClr val="tx1">
                      <a:lumMod val="75000"/>
                      <a:lumOff val="25000"/>
                    </a:schemeClr>
                  </a:gs>
                  <a:gs pos="84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6556CCD-EED8-6B7C-3F62-DFF06EFDB4EA}"/>
                  </a:ext>
                </a:extLst>
              </p:cNvPr>
              <p:cNvSpPr/>
              <p:nvPr/>
            </p:nvSpPr>
            <p:spPr>
              <a:xfrm>
                <a:off x="3847775" y="4727639"/>
                <a:ext cx="4692433" cy="174594"/>
              </a:xfrm>
              <a:custGeom>
                <a:avLst/>
                <a:gdLst>
                  <a:gd name="connsiteX0" fmla="*/ 0 w 5805906"/>
                  <a:gd name="connsiteY0" fmla="*/ 0 h 216024"/>
                  <a:gd name="connsiteX1" fmla="*/ 5805906 w 5805906"/>
                  <a:gd name="connsiteY1" fmla="*/ 0 h 216024"/>
                  <a:gd name="connsiteX2" fmla="*/ 5688902 w 5805906"/>
                  <a:gd name="connsiteY2" fmla="*/ 27601 h 216024"/>
                  <a:gd name="connsiteX3" fmla="*/ 2902953 w 5805906"/>
                  <a:gd name="connsiteY3" fmla="*/ 216024 h 216024"/>
                  <a:gd name="connsiteX4" fmla="*/ 117004 w 5805906"/>
                  <a:gd name="connsiteY4" fmla="*/ 27601 h 216024"/>
                  <a:gd name="connsiteX5" fmla="*/ 0 w 5805906"/>
                  <a:gd name="connsiteY5" fmla="*/ 0 h 2160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05906" h="216024">
                    <a:moveTo>
                      <a:pt x="0" y="0"/>
                    </a:moveTo>
                    <a:lnTo>
                      <a:pt x="5805906" y="0"/>
                    </a:lnTo>
                    <a:lnTo>
                      <a:pt x="5688902" y="27601"/>
                    </a:lnTo>
                    <a:cubicBezTo>
                      <a:pt x="5152376" y="139834"/>
                      <a:pt x="4105963" y="216024"/>
                      <a:pt x="2902953" y="216024"/>
                    </a:cubicBezTo>
                    <a:cubicBezTo>
                      <a:pt x="1699944" y="216024"/>
                      <a:pt x="653531" y="139834"/>
                      <a:pt x="117004" y="27601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3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10068B8-591E-9296-14EA-94BEA663FB94}"/>
                </a:ext>
              </a:extLst>
            </p:cNvPr>
            <p:cNvGrpSpPr/>
            <p:nvPr/>
          </p:nvGrpSpPr>
          <p:grpSpPr>
            <a:xfrm>
              <a:off x="7956059" y="2466321"/>
              <a:ext cx="1532373" cy="2153330"/>
              <a:chOff x="8398668" y="1052736"/>
              <a:chExt cx="1895992" cy="2664296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BF4CE503-1939-6832-5354-B568857B0699}"/>
                  </a:ext>
                </a:extLst>
              </p:cNvPr>
              <p:cNvSpPr/>
              <p:nvPr/>
            </p:nvSpPr>
            <p:spPr>
              <a:xfrm>
                <a:off x="9058632" y="3284984"/>
                <a:ext cx="576064" cy="432048"/>
              </a:xfrm>
              <a:prstGeom prst="roundRect">
                <a:avLst>
                  <a:gd name="adj" fmla="val 2577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D5ACF7B-527E-C96E-0717-2AF16CF83D94}"/>
                  </a:ext>
                </a:extLst>
              </p:cNvPr>
              <p:cNvGrpSpPr/>
              <p:nvPr/>
            </p:nvGrpSpPr>
            <p:grpSpPr>
              <a:xfrm>
                <a:off x="8398668" y="1052736"/>
                <a:ext cx="1895992" cy="2498705"/>
                <a:chOff x="7462564" y="1268760"/>
                <a:chExt cx="1578868" cy="2080771"/>
              </a:xfrm>
            </p:grpSpPr>
            <p:sp>
              <p:nvSpPr>
                <p:cNvPr id="16" name="Freeform 14">
                  <a:extLst>
                    <a:ext uri="{FF2B5EF4-FFF2-40B4-BE49-F238E27FC236}">
                      <a16:creationId xmlns:a16="http://schemas.microsoft.com/office/drawing/2014/main" id="{B3CDC336-5DEC-4BE5-AC86-A5CAE04075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2564" y="1268760"/>
                  <a:ext cx="1578868" cy="1592862"/>
                </a:xfrm>
                <a:custGeom>
                  <a:avLst/>
                  <a:gdLst>
                    <a:gd name="T0" fmla="*/ 222 w 1297"/>
                    <a:gd name="T1" fmla="*/ 1147 h 1309"/>
                    <a:gd name="T2" fmla="*/ 346 w 1297"/>
                    <a:gd name="T3" fmla="*/ 1309 h 1309"/>
                    <a:gd name="T4" fmla="*/ 930 w 1297"/>
                    <a:gd name="T5" fmla="*/ 1309 h 1309"/>
                    <a:gd name="T6" fmla="*/ 1054 w 1297"/>
                    <a:gd name="T7" fmla="*/ 1147 h 1309"/>
                    <a:gd name="T8" fmla="*/ 1263 w 1297"/>
                    <a:gd name="T9" fmla="*/ 580 h 1309"/>
                    <a:gd name="T10" fmla="*/ 708 w 1297"/>
                    <a:gd name="T11" fmla="*/ 42 h 1309"/>
                    <a:gd name="T12" fmla="*/ 0 w 1297"/>
                    <a:gd name="T13" fmla="*/ 674 h 1309"/>
                    <a:gd name="T14" fmla="*/ 222 w 1297"/>
                    <a:gd name="T15" fmla="*/ 1147 h 1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97" h="1309">
                      <a:moveTo>
                        <a:pt x="222" y="1147"/>
                      </a:moveTo>
                      <a:cubicBezTo>
                        <a:pt x="273" y="1194"/>
                        <a:pt x="316" y="1250"/>
                        <a:pt x="346" y="1309"/>
                      </a:cubicBezTo>
                      <a:cubicBezTo>
                        <a:pt x="930" y="1309"/>
                        <a:pt x="930" y="1309"/>
                        <a:pt x="930" y="1309"/>
                      </a:cubicBezTo>
                      <a:cubicBezTo>
                        <a:pt x="960" y="1250"/>
                        <a:pt x="1003" y="1190"/>
                        <a:pt x="1054" y="1147"/>
                      </a:cubicBezTo>
                      <a:cubicBezTo>
                        <a:pt x="1207" y="1015"/>
                        <a:pt x="1297" y="806"/>
                        <a:pt x="1263" y="580"/>
                      </a:cubicBezTo>
                      <a:cubicBezTo>
                        <a:pt x="1225" y="298"/>
                        <a:pt x="990" y="72"/>
                        <a:pt x="708" y="42"/>
                      </a:cubicBezTo>
                      <a:cubicBezTo>
                        <a:pt x="324" y="0"/>
                        <a:pt x="0" y="298"/>
                        <a:pt x="0" y="674"/>
                      </a:cubicBezTo>
                      <a:cubicBezTo>
                        <a:pt x="4" y="861"/>
                        <a:pt x="90" y="1032"/>
                        <a:pt x="222" y="114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898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Freeform 36">
                  <a:extLst>
                    <a:ext uri="{FF2B5EF4-FFF2-40B4-BE49-F238E27FC236}">
                      <a16:creationId xmlns:a16="http://schemas.microsoft.com/office/drawing/2014/main" id="{EC89D047-58DD-47D9-93F7-6302F056AF3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28608" y="2112879"/>
                  <a:ext cx="646780" cy="763965"/>
                </a:xfrm>
                <a:custGeom>
                  <a:avLst/>
                  <a:gdLst>
                    <a:gd name="T0" fmla="*/ 426 w 520"/>
                    <a:gd name="T1" fmla="*/ 5 h 615"/>
                    <a:gd name="T2" fmla="*/ 332 w 520"/>
                    <a:gd name="T3" fmla="*/ 98 h 615"/>
                    <a:gd name="T4" fmla="*/ 332 w 520"/>
                    <a:gd name="T5" fmla="*/ 154 h 615"/>
                    <a:gd name="T6" fmla="*/ 260 w 520"/>
                    <a:gd name="T7" fmla="*/ 154 h 615"/>
                    <a:gd name="T8" fmla="*/ 187 w 520"/>
                    <a:gd name="T9" fmla="*/ 154 h 615"/>
                    <a:gd name="T10" fmla="*/ 187 w 520"/>
                    <a:gd name="T11" fmla="*/ 94 h 615"/>
                    <a:gd name="T12" fmla="*/ 94 w 520"/>
                    <a:gd name="T13" fmla="*/ 0 h 615"/>
                    <a:gd name="T14" fmla="*/ 0 w 520"/>
                    <a:gd name="T15" fmla="*/ 94 h 615"/>
                    <a:gd name="T16" fmla="*/ 0 w 520"/>
                    <a:gd name="T17" fmla="*/ 98 h 615"/>
                    <a:gd name="T18" fmla="*/ 94 w 520"/>
                    <a:gd name="T19" fmla="*/ 192 h 615"/>
                    <a:gd name="T20" fmla="*/ 149 w 520"/>
                    <a:gd name="T21" fmla="*/ 192 h 615"/>
                    <a:gd name="T22" fmla="*/ 149 w 520"/>
                    <a:gd name="T23" fmla="*/ 610 h 615"/>
                    <a:gd name="T24" fmla="*/ 187 w 520"/>
                    <a:gd name="T25" fmla="*/ 610 h 615"/>
                    <a:gd name="T26" fmla="*/ 187 w 520"/>
                    <a:gd name="T27" fmla="*/ 197 h 615"/>
                    <a:gd name="T28" fmla="*/ 260 w 520"/>
                    <a:gd name="T29" fmla="*/ 197 h 615"/>
                    <a:gd name="T30" fmla="*/ 332 w 520"/>
                    <a:gd name="T31" fmla="*/ 197 h 615"/>
                    <a:gd name="T32" fmla="*/ 332 w 520"/>
                    <a:gd name="T33" fmla="*/ 615 h 615"/>
                    <a:gd name="T34" fmla="*/ 371 w 520"/>
                    <a:gd name="T35" fmla="*/ 615 h 615"/>
                    <a:gd name="T36" fmla="*/ 371 w 520"/>
                    <a:gd name="T37" fmla="*/ 197 h 615"/>
                    <a:gd name="T38" fmla="*/ 426 w 520"/>
                    <a:gd name="T39" fmla="*/ 197 h 615"/>
                    <a:gd name="T40" fmla="*/ 520 w 520"/>
                    <a:gd name="T41" fmla="*/ 103 h 615"/>
                    <a:gd name="T42" fmla="*/ 520 w 520"/>
                    <a:gd name="T43" fmla="*/ 98 h 615"/>
                    <a:gd name="T44" fmla="*/ 426 w 520"/>
                    <a:gd name="T45" fmla="*/ 5 h 615"/>
                    <a:gd name="T46" fmla="*/ 149 w 520"/>
                    <a:gd name="T47" fmla="*/ 154 h 615"/>
                    <a:gd name="T48" fmla="*/ 94 w 520"/>
                    <a:gd name="T49" fmla="*/ 154 h 615"/>
                    <a:gd name="T50" fmla="*/ 38 w 520"/>
                    <a:gd name="T51" fmla="*/ 98 h 615"/>
                    <a:gd name="T52" fmla="*/ 38 w 520"/>
                    <a:gd name="T53" fmla="*/ 94 h 615"/>
                    <a:gd name="T54" fmla="*/ 94 w 520"/>
                    <a:gd name="T55" fmla="*/ 39 h 615"/>
                    <a:gd name="T56" fmla="*/ 149 w 520"/>
                    <a:gd name="T57" fmla="*/ 94 h 615"/>
                    <a:gd name="T58" fmla="*/ 149 w 520"/>
                    <a:gd name="T59" fmla="*/ 154 h 615"/>
                    <a:gd name="T60" fmla="*/ 478 w 520"/>
                    <a:gd name="T61" fmla="*/ 103 h 615"/>
                    <a:gd name="T62" fmla="*/ 422 w 520"/>
                    <a:gd name="T63" fmla="*/ 158 h 615"/>
                    <a:gd name="T64" fmla="*/ 367 w 520"/>
                    <a:gd name="T65" fmla="*/ 158 h 615"/>
                    <a:gd name="T66" fmla="*/ 367 w 520"/>
                    <a:gd name="T67" fmla="*/ 98 h 615"/>
                    <a:gd name="T68" fmla="*/ 422 w 520"/>
                    <a:gd name="T69" fmla="*/ 43 h 615"/>
                    <a:gd name="T70" fmla="*/ 478 w 520"/>
                    <a:gd name="T71" fmla="*/ 98 h 615"/>
                    <a:gd name="T72" fmla="*/ 478 w 520"/>
                    <a:gd name="T73" fmla="*/ 103 h 6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20" h="615">
                      <a:moveTo>
                        <a:pt x="426" y="5"/>
                      </a:moveTo>
                      <a:cubicBezTo>
                        <a:pt x="375" y="5"/>
                        <a:pt x="332" y="47"/>
                        <a:pt x="332" y="98"/>
                      </a:cubicBezTo>
                      <a:cubicBezTo>
                        <a:pt x="332" y="154"/>
                        <a:pt x="332" y="154"/>
                        <a:pt x="332" y="154"/>
                      </a:cubicBezTo>
                      <a:cubicBezTo>
                        <a:pt x="260" y="154"/>
                        <a:pt x="260" y="154"/>
                        <a:pt x="260" y="154"/>
                      </a:cubicBezTo>
                      <a:cubicBezTo>
                        <a:pt x="187" y="154"/>
                        <a:pt x="187" y="154"/>
                        <a:pt x="187" y="154"/>
                      </a:cubicBezTo>
                      <a:cubicBezTo>
                        <a:pt x="187" y="94"/>
                        <a:pt x="187" y="94"/>
                        <a:pt x="187" y="94"/>
                      </a:cubicBezTo>
                      <a:cubicBezTo>
                        <a:pt x="187" y="43"/>
                        <a:pt x="145" y="0"/>
                        <a:pt x="94" y="0"/>
                      </a:cubicBezTo>
                      <a:cubicBezTo>
                        <a:pt x="42" y="0"/>
                        <a:pt x="0" y="43"/>
                        <a:pt x="0" y="94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50"/>
                        <a:pt x="42" y="192"/>
                        <a:pt x="94" y="192"/>
                      </a:cubicBezTo>
                      <a:cubicBezTo>
                        <a:pt x="149" y="192"/>
                        <a:pt x="149" y="192"/>
                        <a:pt x="149" y="192"/>
                      </a:cubicBezTo>
                      <a:cubicBezTo>
                        <a:pt x="149" y="610"/>
                        <a:pt x="149" y="610"/>
                        <a:pt x="149" y="610"/>
                      </a:cubicBezTo>
                      <a:cubicBezTo>
                        <a:pt x="187" y="610"/>
                        <a:pt x="187" y="610"/>
                        <a:pt x="187" y="610"/>
                      </a:cubicBezTo>
                      <a:cubicBezTo>
                        <a:pt x="187" y="197"/>
                        <a:pt x="187" y="197"/>
                        <a:pt x="187" y="197"/>
                      </a:cubicBezTo>
                      <a:cubicBezTo>
                        <a:pt x="260" y="197"/>
                        <a:pt x="260" y="197"/>
                        <a:pt x="260" y="197"/>
                      </a:cubicBezTo>
                      <a:cubicBezTo>
                        <a:pt x="332" y="197"/>
                        <a:pt x="332" y="197"/>
                        <a:pt x="332" y="197"/>
                      </a:cubicBezTo>
                      <a:cubicBezTo>
                        <a:pt x="332" y="615"/>
                        <a:pt x="332" y="615"/>
                        <a:pt x="332" y="615"/>
                      </a:cubicBezTo>
                      <a:cubicBezTo>
                        <a:pt x="371" y="615"/>
                        <a:pt x="371" y="615"/>
                        <a:pt x="371" y="615"/>
                      </a:cubicBezTo>
                      <a:cubicBezTo>
                        <a:pt x="371" y="197"/>
                        <a:pt x="371" y="197"/>
                        <a:pt x="371" y="197"/>
                      </a:cubicBezTo>
                      <a:cubicBezTo>
                        <a:pt x="426" y="197"/>
                        <a:pt x="426" y="197"/>
                        <a:pt x="426" y="197"/>
                      </a:cubicBezTo>
                      <a:cubicBezTo>
                        <a:pt x="478" y="197"/>
                        <a:pt x="520" y="154"/>
                        <a:pt x="520" y="103"/>
                      </a:cubicBezTo>
                      <a:cubicBezTo>
                        <a:pt x="520" y="98"/>
                        <a:pt x="520" y="98"/>
                        <a:pt x="520" y="98"/>
                      </a:cubicBezTo>
                      <a:cubicBezTo>
                        <a:pt x="520" y="47"/>
                        <a:pt x="478" y="5"/>
                        <a:pt x="426" y="5"/>
                      </a:cubicBezTo>
                      <a:close/>
                      <a:moveTo>
                        <a:pt x="149" y="154"/>
                      </a:moveTo>
                      <a:cubicBezTo>
                        <a:pt x="94" y="154"/>
                        <a:pt x="94" y="154"/>
                        <a:pt x="94" y="154"/>
                      </a:cubicBezTo>
                      <a:cubicBezTo>
                        <a:pt x="64" y="154"/>
                        <a:pt x="38" y="128"/>
                        <a:pt x="38" y="98"/>
                      </a:cubicBezTo>
                      <a:cubicBezTo>
                        <a:pt x="38" y="94"/>
                        <a:pt x="38" y="94"/>
                        <a:pt x="38" y="94"/>
                      </a:cubicBezTo>
                      <a:cubicBezTo>
                        <a:pt x="38" y="64"/>
                        <a:pt x="64" y="39"/>
                        <a:pt x="94" y="39"/>
                      </a:cubicBezTo>
                      <a:cubicBezTo>
                        <a:pt x="123" y="39"/>
                        <a:pt x="149" y="64"/>
                        <a:pt x="149" y="94"/>
                      </a:cubicBezTo>
                      <a:lnTo>
                        <a:pt x="149" y="154"/>
                      </a:lnTo>
                      <a:close/>
                      <a:moveTo>
                        <a:pt x="478" y="103"/>
                      </a:moveTo>
                      <a:cubicBezTo>
                        <a:pt x="478" y="133"/>
                        <a:pt x="452" y="158"/>
                        <a:pt x="422" y="158"/>
                      </a:cubicBezTo>
                      <a:cubicBezTo>
                        <a:pt x="367" y="158"/>
                        <a:pt x="367" y="158"/>
                        <a:pt x="367" y="158"/>
                      </a:cubicBezTo>
                      <a:cubicBezTo>
                        <a:pt x="367" y="98"/>
                        <a:pt x="367" y="98"/>
                        <a:pt x="367" y="98"/>
                      </a:cubicBezTo>
                      <a:cubicBezTo>
                        <a:pt x="367" y="69"/>
                        <a:pt x="392" y="43"/>
                        <a:pt x="422" y="43"/>
                      </a:cubicBezTo>
                      <a:cubicBezTo>
                        <a:pt x="452" y="43"/>
                        <a:pt x="478" y="69"/>
                        <a:pt x="478" y="98"/>
                      </a:cubicBezTo>
                      <a:lnTo>
                        <a:pt x="478" y="103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898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639FC025-0595-4531-BFC4-7A31D9299BF8}"/>
                    </a:ext>
                  </a:extLst>
                </p:cNvPr>
                <p:cNvGrpSpPr/>
                <p:nvPr/>
              </p:nvGrpSpPr>
              <p:grpSpPr>
                <a:xfrm>
                  <a:off x="7790170" y="2846991"/>
                  <a:ext cx="902665" cy="502540"/>
                  <a:chOff x="5650386" y="4584814"/>
                  <a:chExt cx="902665" cy="502540"/>
                </a:xfrm>
              </p:grpSpPr>
              <p:sp>
                <p:nvSpPr>
                  <p:cNvPr id="17" name="Freeform 15">
                    <a:extLst>
                      <a:ext uri="{FF2B5EF4-FFF2-40B4-BE49-F238E27FC236}">
                        <a16:creationId xmlns:a16="http://schemas.microsoft.com/office/drawing/2014/main" id="{4C544892-4DFC-4D6C-8F12-14072C4FA2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43896" y="4729851"/>
                    <a:ext cx="715643" cy="357503"/>
                  </a:xfrm>
                  <a:custGeom>
                    <a:avLst/>
                    <a:gdLst>
                      <a:gd name="T0" fmla="*/ 588 w 588"/>
                      <a:gd name="T1" fmla="*/ 205 h 294"/>
                      <a:gd name="T2" fmla="*/ 588 w 588"/>
                      <a:gd name="T3" fmla="*/ 0 h 294"/>
                      <a:gd name="T4" fmla="*/ 0 w 588"/>
                      <a:gd name="T5" fmla="*/ 0 h 294"/>
                      <a:gd name="T6" fmla="*/ 0 w 588"/>
                      <a:gd name="T7" fmla="*/ 205 h 294"/>
                      <a:gd name="T8" fmla="*/ 89 w 588"/>
                      <a:gd name="T9" fmla="*/ 294 h 294"/>
                      <a:gd name="T10" fmla="*/ 503 w 588"/>
                      <a:gd name="T11" fmla="*/ 294 h 294"/>
                      <a:gd name="T12" fmla="*/ 588 w 588"/>
                      <a:gd name="T13" fmla="*/ 205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88" h="294">
                        <a:moveTo>
                          <a:pt x="588" y="205"/>
                        </a:moveTo>
                        <a:cubicBezTo>
                          <a:pt x="588" y="0"/>
                          <a:pt x="588" y="0"/>
                          <a:pt x="588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05"/>
                          <a:pt x="0" y="205"/>
                          <a:pt x="0" y="205"/>
                        </a:cubicBezTo>
                        <a:cubicBezTo>
                          <a:pt x="0" y="252"/>
                          <a:pt x="38" y="294"/>
                          <a:pt x="89" y="294"/>
                        </a:cubicBezTo>
                        <a:cubicBezTo>
                          <a:pt x="503" y="294"/>
                          <a:pt x="503" y="294"/>
                          <a:pt x="503" y="294"/>
                        </a:cubicBezTo>
                        <a:cubicBezTo>
                          <a:pt x="550" y="290"/>
                          <a:pt x="588" y="252"/>
                          <a:pt x="588" y="205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" name="Freeform 16">
                    <a:extLst>
                      <a:ext uri="{FF2B5EF4-FFF2-40B4-BE49-F238E27FC236}">
                        <a16:creationId xmlns:a16="http://schemas.microsoft.com/office/drawing/2014/main" id="{26147F79-CAFD-4547-B4DB-7F8A12A72E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650386" y="4584814"/>
                    <a:ext cx="902665" cy="145037"/>
                  </a:xfrm>
                  <a:custGeom>
                    <a:avLst/>
                    <a:gdLst>
                      <a:gd name="T0" fmla="*/ 682 w 742"/>
                      <a:gd name="T1" fmla="*/ 0 h 119"/>
                      <a:gd name="T2" fmla="*/ 60 w 742"/>
                      <a:gd name="T3" fmla="*/ 0 h 119"/>
                      <a:gd name="T4" fmla="*/ 0 w 742"/>
                      <a:gd name="T5" fmla="*/ 59 h 119"/>
                      <a:gd name="T6" fmla="*/ 0 w 742"/>
                      <a:gd name="T7" fmla="*/ 59 h 119"/>
                      <a:gd name="T8" fmla="*/ 60 w 742"/>
                      <a:gd name="T9" fmla="*/ 119 h 119"/>
                      <a:gd name="T10" fmla="*/ 682 w 742"/>
                      <a:gd name="T11" fmla="*/ 119 h 119"/>
                      <a:gd name="T12" fmla="*/ 742 w 742"/>
                      <a:gd name="T13" fmla="*/ 59 h 119"/>
                      <a:gd name="T14" fmla="*/ 742 w 742"/>
                      <a:gd name="T15" fmla="*/ 59 h 119"/>
                      <a:gd name="T16" fmla="*/ 682 w 742"/>
                      <a:gd name="T17" fmla="*/ 0 h 1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2" h="119">
                        <a:moveTo>
                          <a:pt x="682" y="0"/>
                        </a:moveTo>
                        <a:cubicBezTo>
                          <a:pt x="60" y="0"/>
                          <a:pt x="60" y="0"/>
                          <a:pt x="60" y="0"/>
                        </a:cubicBezTo>
                        <a:cubicBezTo>
                          <a:pt x="25" y="0"/>
                          <a:pt x="0" y="25"/>
                          <a:pt x="0" y="59"/>
                        </a:cubicBezTo>
                        <a:cubicBezTo>
                          <a:pt x="0" y="59"/>
                          <a:pt x="0" y="59"/>
                          <a:pt x="0" y="59"/>
                        </a:cubicBezTo>
                        <a:cubicBezTo>
                          <a:pt x="0" y="93"/>
                          <a:pt x="25" y="119"/>
                          <a:pt x="60" y="119"/>
                        </a:cubicBezTo>
                        <a:cubicBezTo>
                          <a:pt x="682" y="119"/>
                          <a:pt x="682" y="119"/>
                          <a:pt x="682" y="119"/>
                        </a:cubicBezTo>
                        <a:cubicBezTo>
                          <a:pt x="717" y="119"/>
                          <a:pt x="742" y="93"/>
                          <a:pt x="742" y="59"/>
                        </a:cubicBezTo>
                        <a:cubicBezTo>
                          <a:pt x="742" y="59"/>
                          <a:pt x="742" y="59"/>
                          <a:pt x="742" y="59"/>
                        </a:cubicBezTo>
                        <a:cubicBezTo>
                          <a:pt x="742" y="25"/>
                          <a:pt x="712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Freeform 17">
                    <a:extLst>
                      <a:ext uri="{FF2B5EF4-FFF2-40B4-BE49-F238E27FC236}">
                        <a16:creationId xmlns:a16="http://schemas.microsoft.com/office/drawing/2014/main" id="{B21A9BB7-DAB5-4C67-9093-AE388DC016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650386" y="4807458"/>
                    <a:ext cx="902665" cy="146309"/>
                  </a:xfrm>
                  <a:custGeom>
                    <a:avLst/>
                    <a:gdLst>
                      <a:gd name="T0" fmla="*/ 682 w 742"/>
                      <a:gd name="T1" fmla="*/ 0 h 120"/>
                      <a:gd name="T2" fmla="*/ 60 w 742"/>
                      <a:gd name="T3" fmla="*/ 0 h 120"/>
                      <a:gd name="T4" fmla="*/ 0 w 742"/>
                      <a:gd name="T5" fmla="*/ 60 h 120"/>
                      <a:gd name="T6" fmla="*/ 0 w 742"/>
                      <a:gd name="T7" fmla="*/ 60 h 120"/>
                      <a:gd name="T8" fmla="*/ 60 w 742"/>
                      <a:gd name="T9" fmla="*/ 120 h 120"/>
                      <a:gd name="T10" fmla="*/ 682 w 742"/>
                      <a:gd name="T11" fmla="*/ 120 h 120"/>
                      <a:gd name="T12" fmla="*/ 742 w 742"/>
                      <a:gd name="T13" fmla="*/ 60 h 120"/>
                      <a:gd name="T14" fmla="*/ 742 w 742"/>
                      <a:gd name="T15" fmla="*/ 60 h 120"/>
                      <a:gd name="T16" fmla="*/ 682 w 742"/>
                      <a:gd name="T17" fmla="*/ 0 h 1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2" h="120">
                        <a:moveTo>
                          <a:pt x="682" y="0"/>
                        </a:moveTo>
                        <a:cubicBezTo>
                          <a:pt x="60" y="0"/>
                          <a:pt x="60" y="0"/>
                          <a:pt x="60" y="0"/>
                        </a:cubicBezTo>
                        <a:cubicBezTo>
                          <a:pt x="25" y="0"/>
                          <a:pt x="0" y="26"/>
                          <a:pt x="0" y="60"/>
                        </a:cubicBezTo>
                        <a:cubicBezTo>
                          <a:pt x="0" y="60"/>
                          <a:pt x="0" y="60"/>
                          <a:pt x="0" y="60"/>
                        </a:cubicBezTo>
                        <a:cubicBezTo>
                          <a:pt x="0" y="94"/>
                          <a:pt x="25" y="120"/>
                          <a:pt x="60" y="120"/>
                        </a:cubicBezTo>
                        <a:cubicBezTo>
                          <a:pt x="682" y="120"/>
                          <a:pt x="682" y="120"/>
                          <a:pt x="682" y="120"/>
                        </a:cubicBezTo>
                        <a:cubicBezTo>
                          <a:pt x="717" y="120"/>
                          <a:pt x="742" y="94"/>
                          <a:pt x="742" y="60"/>
                        </a:cubicBezTo>
                        <a:cubicBezTo>
                          <a:pt x="742" y="60"/>
                          <a:pt x="742" y="60"/>
                          <a:pt x="742" y="60"/>
                        </a:cubicBezTo>
                        <a:cubicBezTo>
                          <a:pt x="742" y="30"/>
                          <a:pt x="712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8F93781-5B10-2304-4988-5628FAAC43AB}"/>
                </a:ext>
              </a:extLst>
            </p:cNvPr>
            <p:cNvSpPr/>
            <p:nvPr/>
          </p:nvSpPr>
          <p:spPr>
            <a:xfrm>
              <a:off x="8174851" y="2753549"/>
              <a:ext cx="384821" cy="482848"/>
            </a:xfrm>
            <a:custGeom>
              <a:avLst/>
              <a:gdLst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3" fmla="*/ 619432 w 665316"/>
                <a:gd name="connsiteY3" fmla="*/ 73304 h 820556"/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3" fmla="*/ 619432 w 665316"/>
                <a:gd name="connsiteY3" fmla="*/ 73304 h 820556"/>
                <a:gd name="connsiteX0" fmla="*/ 0 w 779892"/>
                <a:gd name="connsiteY0" fmla="*/ 820556 h 820556"/>
                <a:gd name="connsiteX1" fmla="*/ 619432 w 779892"/>
                <a:gd name="connsiteY1" fmla="*/ 53640 h 820556"/>
                <a:gd name="connsiteX2" fmla="*/ 619432 w 779892"/>
                <a:gd name="connsiteY2" fmla="*/ 63472 h 820556"/>
                <a:gd name="connsiteX3" fmla="*/ 779892 w 779892"/>
                <a:gd name="connsiteY3" fmla="*/ 88690 h 820556"/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0" fmla="*/ 0 w 850230"/>
                <a:gd name="connsiteY0" fmla="*/ 821083 h 821083"/>
                <a:gd name="connsiteX1" fmla="*/ 619432 w 850230"/>
                <a:gd name="connsiteY1" fmla="*/ 54167 h 821083"/>
                <a:gd name="connsiteX2" fmla="*/ 850230 w 850230"/>
                <a:gd name="connsiteY2" fmla="*/ 61801 h 821083"/>
                <a:gd name="connsiteX0" fmla="*/ 0 w 619432"/>
                <a:gd name="connsiteY0" fmla="*/ 766916 h 766916"/>
                <a:gd name="connsiteX1" fmla="*/ 619432 w 619432"/>
                <a:gd name="connsiteY1" fmla="*/ 0 h 766916"/>
                <a:gd name="connsiteX0" fmla="*/ 0 w 619432"/>
                <a:gd name="connsiteY0" fmla="*/ 766916 h 766916"/>
                <a:gd name="connsiteX1" fmla="*/ 619432 w 619432"/>
                <a:gd name="connsiteY1" fmla="*/ 0 h 76691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8007" h="813076">
                  <a:moveTo>
                    <a:pt x="0" y="813076"/>
                  </a:moveTo>
                  <a:cubicBezTo>
                    <a:pt x="19429" y="200237"/>
                    <a:pt x="483292" y="7257"/>
                    <a:pt x="648007" y="0"/>
                  </a:cubicBezTo>
                </a:path>
              </a:pathLst>
            </a:custGeom>
            <a:noFill/>
            <a:ln w="127000" cap="rnd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06A5F95-CF2D-682E-2584-947075B713B4}"/>
                </a:ext>
              </a:extLst>
            </p:cNvPr>
            <p:cNvGrpSpPr/>
            <p:nvPr/>
          </p:nvGrpSpPr>
          <p:grpSpPr>
            <a:xfrm>
              <a:off x="7490474" y="1627835"/>
              <a:ext cx="2467443" cy="1062871"/>
              <a:chOff x="7490474" y="1627835"/>
              <a:chExt cx="2467443" cy="1062871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CADD288-62BD-B171-BBAF-8FDEAA6C87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2954" y="1627835"/>
                <a:ext cx="0" cy="499690"/>
              </a:xfrm>
              <a:prstGeom prst="line">
                <a:avLst/>
              </a:prstGeom>
              <a:ln w="38100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A92428AE-005B-B70A-C216-D52BB6DBD41F}"/>
                  </a:ext>
                </a:extLst>
              </p:cNvPr>
              <p:cNvGrpSpPr/>
              <p:nvPr/>
            </p:nvGrpSpPr>
            <p:grpSpPr>
              <a:xfrm>
                <a:off x="7490474" y="1879042"/>
                <a:ext cx="849658" cy="811664"/>
                <a:chOff x="7490474" y="1879042"/>
                <a:chExt cx="849658" cy="811664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F9B867E-68A4-335F-0B13-DA0F785A6A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61051" y="2020116"/>
                  <a:ext cx="358616" cy="358616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E2D0DED-5A3D-D7ED-7A21-C1E0B59386B8}"/>
                    </a:ext>
                  </a:extLst>
                </p:cNvPr>
                <p:cNvCxnSpPr/>
                <p:nvPr/>
              </p:nvCxnSpPr>
              <p:spPr>
                <a:xfrm flipH="1" flipV="1">
                  <a:off x="7490474" y="2516112"/>
                  <a:ext cx="232792" cy="174594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F2B6A84F-5D3A-ECF0-5795-87C70F946D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219552" y="1879042"/>
                  <a:ext cx="120580" cy="261257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6A6E03C-F284-27F9-8AFC-3A9C9D500B42}"/>
                  </a:ext>
                </a:extLst>
              </p:cNvPr>
              <p:cNvGrpSpPr/>
              <p:nvPr/>
            </p:nvGrpSpPr>
            <p:grpSpPr>
              <a:xfrm flipH="1">
                <a:off x="9108259" y="1879042"/>
                <a:ext cx="849658" cy="811664"/>
                <a:chOff x="7490474" y="1879042"/>
                <a:chExt cx="849658" cy="811664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8E95DB1-1A60-F52B-57DE-EBB34E94C4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61051" y="2020116"/>
                  <a:ext cx="358616" cy="358616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A71FF8E5-A9B3-F28B-CB05-901BA396E642}"/>
                    </a:ext>
                  </a:extLst>
                </p:cNvPr>
                <p:cNvCxnSpPr/>
                <p:nvPr/>
              </p:nvCxnSpPr>
              <p:spPr>
                <a:xfrm flipH="1" flipV="1">
                  <a:off x="7490474" y="2516112"/>
                  <a:ext cx="232792" cy="174594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BBF6C344-C910-7D5C-94AE-7D407671EE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219552" y="1879042"/>
                  <a:ext cx="120580" cy="261257"/>
                </a:xfrm>
                <a:prstGeom prst="line">
                  <a:avLst/>
                </a:prstGeom>
                <a:ln w="38100" cap="rnd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85B41A0-9DD1-5A43-DEC2-D01C855A0729}"/>
                </a:ext>
              </a:extLst>
            </p:cNvPr>
            <p:cNvGrpSpPr/>
            <p:nvPr/>
          </p:nvGrpSpPr>
          <p:grpSpPr>
            <a:xfrm>
              <a:off x="2896142" y="3147714"/>
              <a:ext cx="1470078" cy="1470078"/>
              <a:chOff x="909836" y="3356992"/>
              <a:chExt cx="756744" cy="75674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808AFE8-0541-162F-A296-52BC2AE1F1D8}"/>
                  </a:ext>
                </a:extLst>
              </p:cNvPr>
              <p:cNvSpPr/>
              <p:nvPr/>
            </p:nvSpPr>
            <p:spPr>
              <a:xfrm>
                <a:off x="909836" y="3356992"/>
                <a:ext cx="756744" cy="756744"/>
              </a:xfrm>
              <a:prstGeom prst="ellipse">
                <a:avLst/>
              </a:prstGeom>
              <a:gradFill flip="none" rotWithShape="1">
                <a:gsLst>
                  <a:gs pos="19000">
                    <a:schemeClr val="accent1"/>
                  </a:gs>
                  <a:gs pos="75000">
                    <a:schemeClr val="accent1">
                      <a:lumMod val="7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2056D3-5AD3-55C3-1703-B0F6783FF2BB}"/>
                  </a:ext>
                </a:extLst>
              </p:cNvPr>
              <p:cNvSpPr/>
              <p:nvPr/>
            </p:nvSpPr>
            <p:spPr>
              <a:xfrm>
                <a:off x="1053852" y="3501008"/>
                <a:ext cx="179614" cy="179614"/>
              </a:xfrm>
              <a:prstGeom prst="ellipse">
                <a:avLst/>
              </a:prstGeom>
              <a:gradFill>
                <a:gsLst>
                  <a:gs pos="19000">
                    <a:schemeClr val="accent6">
                      <a:lumMod val="20000"/>
                      <a:lumOff val="80000"/>
                      <a:alpha val="50000"/>
                    </a:schemeClr>
                  </a:gs>
                  <a:gs pos="100000">
                    <a:schemeClr val="accent6">
                      <a:lumMod val="60000"/>
                      <a:lumOff val="40000"/>
                      <a:alpha val="50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B370E90-FB41-9F0A-5A7F-47F7E051B52B}"/>
                </a:ext>
              </a:extLst>
            </p:cNvPr>
            <p:cNvGrpSpPr/>
            <p:nvPr/>
          </p:nvGrpSpPr>
          <p:grpSpPr>
            <a:xfrm>
              <a:off x="3652846" y="4727585"/>
              <a:ext cx="4050066" cy="2163433"/>
              <a:chOff x="3652846" y="4727585"/>
              <a:chExt cx="4050066" cy="2163433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DD75BE3B-3EDD-C19D-5C85-8FC6C6C77B71}"/>
                  </a:ext>
                </a:extLst>
              </p:cNvPr>
              <p:cNvSpPr/>
              <p:nvPr/>
            </p:nvSpPr>
            <p:spPr>
              <a:xfrm>
                <a:off x="3826779" y="4727585"/>
                <a:ext cx="3876133" cy="2130415"/>
              </a:xfrm>
              <a:custGeom>
                <a:avLst/>
                <a:gdLst>
                  <a:gd name="connsiteX0" fmla="*/ 2809667 w 3876133"/>
                  <a:gd name="connsiteY0" fmla="*/ 11 h 2130415"/>
                  <a:gd name="connsiteX1" fmla="*/ 2943603 w 3876133"/>
                  <a:gd name="connsiteY1" fmla="*/ 60782 h 2130415"/>
                  <a:gd name="connsiteX2" fmla="*/ 2591061 w 3876133"/>
                  <a:gd name="connsiteY2" fmla="*/ 572537 h 2130415"/>
                  <a:gd name="connsiteX3" fmla="*/ 3045954 w 3876133"/>
                  <a:gd name="connsiteY3" fmla="*/ 174505 h 2130415"/>
                  <a:gd name="connsiteX4" fmla="*/ 3534964 w 3876133"/>
                  <a:gd name="connsiteY4" fmla="*/ 106271 h 2130415"/>
                  <a:gd name="connsiteX5" fmla="*/ 3876133 w 3876133"/>
                  <a:gd name="connsiteY5" fmla="*/ 117644 h 2130415"/>
                  <a:gd name="connsiteX6" fmla="*/ 3375751 w 3876133"/>
                  <a:gd name="connsiteY6" fmla="*/ 561164 h 2130415"/>
                  <a:gd name="connsiteX7" fmla="*/ 2520439 w 3876133"/>
                  <a:gd name="connsiteY7" fmla="*/ 1355294 h 2130415"/>
                  <a:gd name="connsiteX8" fmla="*/ 1635786 w 3876133"/>
                  <a:gd name="connsiteY8" fmla="*/ 2119173 h 2130415"/>
                  <a:gd name="connsiteX9" fmla="*/ 1623398 w 3876133"/>
                  <a:gd name="connsiteY9" fmla="*/ 2130415 h 2130415"/>
                  <a:gd name="connsiteX10" fmla="*/ 0 w 3876133"/>
                  <a:gd name="connsiteY10" fmla="*/ 2130415 h 2130415"/>
                  <a:gd name="connsiteX11" fmla="*/ 21497 w 3876133"/>
                  <a:gd name="connsiteY11" fmla="*/ 2120866 h 2130415"/>
                  <a:gd name="connsiteX12" fmla="*/ 1124032 w 3876133"/>
                  <a:gd name="connsiteY12" fmla="*/ 1493695 h 2130415"/>
                  <a:gd name="connsiteX13" fmla="*/ 1033053 w 3876133"/>
                  <a:gd name="connsiteY13" fmla="*/ 231367 h 2130415"/>
                  <a:gd name="connsiteX14" fmla="*/ 942075 w 3876133"/>
                  <a:gd name="connsiteY14" fmla="*/ 15293 h 2130415"/>
                  <a:gd name="connsiteX15" fmla="*/ 1396967 w 3876133"/>
                  <a:gd name="connsiteY15" fmla="*/ 401952 h 2130415"/>
                  <a:gd name="connsiteX16" fmla="*/ 1658531 w 3876133"/>
                  <a:gd name="connsiteY16" fmla="*/ 856845 h 2130415"/>
                  <a:gd name="connsiteX17" fmla="*/ 2261264 w 3876133"/>
                  <a:gd name="connsiteY17" fmla="*/ 595281 h 2130415"/>
                  <a:gd name="connsiteX18" fmla="*/ 2545572 w 3876133"/>
                  <a:gd name="connsiteY18" fmla="*/ 140388 h 2130415"/>
                  <a:gd name="connsiteX19" fmla="*/ 2809667 w 3876133"/>
                  <a:gd name="connsiteY19" fmla="*/ 11 h 2130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876133" h="2130415">
                    <a:moveTo>
                      <a:pt x="2809667" y="11"/>
                    </a:moveTo>
                    <a:cubicBezTo>
                      <a:pt x="2856712" y="-522"/>
                      <a:pt x="2900957" y="18136"/>
                      <a:pt x="2943603" y="60782"/>
                    </a:cubicBezTo>
                    <a:lnTo>
                      <a:pt x="2591061" y="572537"/>
                    </a:lnTo>
                    <a:cubicBezTo>
                      <a:pt x="2591061" y="572537"/>
                      <a:pt x="2886741" y="288228"/>
                      <a:pt x="3045954" y="174505"/>
                    </a:cubicBezTo>
                    <a:cubicBezTo>
                      <a:pt x="3205166" y="60782"/>
                      <a:pt x="3443985" y="-41569"/>
                      <a:pt x="3534964" y="106271"/>
                    </a:cubicBezTo>
                    <a:cubicBezTo>
                      <a:pt x="3534964" y="106271"/>
                      <a:pt x="3751038" y="-75686"/>
                      <a:pt x="3876133" y="117644"/>
                    </a:cubicBezTo>
                    <a:cubicBezTo>
                      <a:pt x="3876133" y="117644"/>
                      <a:pt x="3648687" y="333718"/>
                      <a:pt x="3375751" y="561164"/>
                    </a:cubicBezTo>
                    <a:cubicBezTo>
                      <a:pt x="3102816" y="788611"/>
                      <a:pt x="2779500" y="1171403"/>
                      <a:pt x="2520439" y="1355294"/>
                    </a:cubicBezTo>
                    <a:cubicBezTo>
                      <a:pt x="2261378" y="1539184"/>
                      <a:pt x="1817743" y="1948588"/>
                      <a:pt x="1635786" y="2119173"/>
                    </a:cubicBezTo>
                    <a:lnTo>
                      <a:pt x="1623398" y="2130415"/>
                    </a:lnTo>
                    <a:lnTo>
                      <a:pt x="0" y="2130415"/>
                    </a:lnTo>
                    <a:lnTo>
                      <a:pt x="21497" y="2120866"/>
                    </a:lnTo>
                    <a:cubicBezTo>
                      <a:pt x="547820" y="1883330"/>
                      <a:pt x="1039450" y="1633006"/>
                      <a:pt x="1124032" y="1493695"/>
                    </a:cubicBezTo>
                    <a:cubicBezTo>
                      <a:pt x="1317361" y="1175270"/>
                      <a:pt x="1135404" y="333718"/>
                      <a:pt x="1033053" y="231367"/>
                    </a:cubicBezTo>
                    <a:cubicBezTo>
                      <a:pt x="930702" y="129016"/>
                      <a:pt x="805607" y="72154"/>
                      <a:pt x="942075" y="15293"/>
                    </a:cubicBezTo>
                    <a:cubicBezTo>
                      <a:pt x="1078542" y="-41569"/>
                      <a:pt x="1351478" y="106271"/>
                      <a:pt x="1396967" y="401952"/>
                    </a:cubicBezTo>
                    <a:cubicBezTo>
                      <a:pt x="1442002" y="694448"/>
                      <a:pt x="1658531" y="856845"/>
                      <a:pt x="1658531" y="856845"/>
                    </a:cubicBezTo>
                    <a:cubicBezTo>
                      <a:pt x="1658531" y="856845"/>
                      <a:pt x="2090679" y="902334"/>
                      <a:pt x="2261264" y="595281"/>
                    </a:cubicBezTo>
                    <a:cubicBezTo>
                      <a:pt x="2261264" y="595281"/>
                      <a:pt x="2386359" y="276856"/>
                      <a:pt x="2545572" y="140388"/>
                    </a:cubicBezTo>
                    <a:cubicBezTo>
                      <a:pt x="2645080" y="55095"/>
                      <a:pt x="2731261" y="899"/>
                      <a:pt x="2809667" y="11"/>
                    </a:cubicBezTo>
                    <a:close/>
                  </a:path>
                </a:pathLst>
              </a:custGeom>
              <a:solidFill>
                <a:srgbClr val="F79D7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03D22AC3-FF22-9428-4D29-0B87F6158384}"/>
                  </a:ext>
                </a:extLst>
              </p:cNvPr>
              <p:cNvSpPr/>
              <p:nvPr/>
            </p:nvSpPr>
            <p:spPr>
              <a:xfrm>
                <a:off x="6580211" y="4792312"/>
                <a:ext cx="214164" cy="241582"/>
              </a:xfrm>
              <a:custGeom>
                <a:avLst/>
                <a:gdLst>
                  <a:gd name="connsiteX0" fmla="*/ 214165 w 214164"/>
                  <a:gd name="connsiteY0" fmla="*/ 7427 h 241582"/>
                  <a:gd name="connsiteX1" fmla="*/ 87818 w 214164"/>
                  <a:gd name="connsiteY1" fmla="*/ 18799 h 241582"/>
                  <a:gd name="connsiteX2" fmla="*/ 21063 w 214164"/>
                  <a:gd name="connsiteY2" fmla="*/ 241583 h 241582"/>
                  <a:gd name="connsiteX3" fmla="*/ 214165 w 214164"/>
                  <a:gd name="connsiteY3" fmla="*/ 7427 h 24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164" h="241582">
                    <a:moveTo>
                      <a:pt x="214165" y="7427"/>
                    </a:moveTo>
                    <a:cubicBezTo>
                      <a:pt x="214165" y="7427"/>
                      <a:pt x="144680" y="-15318"/>
                      <a:pt x="87818" y="18799"/>
                    </a:cubicBezTo>
                    <a:cubicBezTo>
                      <a:pt x="30957" y="52916"/>
                      <a:pt x="-34434" y="168686"/>
                      <a:pt x="21063" y="241583"/>
                    </a:cubicBezTo>
                    <a:lnTo>
                      <a:pt x="214165" y="7427"/>
                    </a:ln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01395FF-8848-A0EB-F5BF-46AD1D79ED9E}"/>
                  </a:ext>
                </a:extLst>
              </p:cNvPr>
              <p:cNvSpPr/>
              <p:nvPr/>
            </p:nvSpPr>
            <p:spPr>
              <a:xfrm>
                <a:off x="7122922" y="4813777"/>
                <a:ext cx="238818" cy="207722"/>
              </a:xfrm>
              <a:custGeom>
                <a:avLst/>
                <a:gdLst>
                  <a:gd name="connsiteX0" fmla="*/ 42874 w 238818"/>
                  <a:gd name="connsiteY0" fmla="*/ 207722 h 207722"/>
                  <a:gd name="connsiteX1" fmla="*/ 0 w 238818"/>
                  <a:gd name="connsiteY1" fmla="*/ 145175 h 207722"/>
                  <a:gd name="connsiteX2" fmla="*/ 225741 w 238818"/>
                  <a:gd name="connsiteY2" fmla="*/ 1656 h 207722"/>
                  <a:gd name="connsiteX3" fmla="*/ 238819 w 238818"/>
                  <a:gd name="connsiteY3" fmla="*/ 20079 h 207722"/>
                  <a:gd name="connsiteX4" fmla="*/ 42874 w 238818"/>
                  <a:gd name="connsiteY4" fmla="*/ 207722 h 20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818" h="207722">
                    <a:moveTo>
                      <a:pt x="42874" y="207722"/>
                    </a:moveTo>
                    <a:cubicBezTo>
                      <a:pt x="42874" y="207722"/>
                      <a:pt x="0" y="167919"/>
                      <a:pt x="0" y="145175"/>
                    </a:cubicBezTo>
                    <a:cubicBezTo>
                      <a:pt x="0" y="122430"/>
                      <a:pt x="121570" y="-16654"/>
                      <a:pt x="225741" y="1656"/>
                    </a:cubicBezTo>
                    <a:cubicBezTo>
                      <a:pt x="225741" y="1656"/>
                      <a:pt x="238819" y="8707"/>
                      <a:pt x="238819" y="20079"/>
                    </a:cubicBezTo>
                    <a:cubicBezTo>
                      <a:pt x="238819" y="31451"/>
                      <a:pt x="42874" y="207722"/>
                      <a:pt x="42874" y="207722"/>
                    </a:cubicBez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46CED01-6A3A-733B-47C1-C8BB854226D7}"/>
                  </a:ext>
                </a:extLst>
              </p:cNvPr>
              <p:cNvSpPr/>
              <p:nvPr/>
            </p:nvSpPr>
            <p:spPr>
              <a:xfrm>
                <a:off x="7486022" y="4837950"/>
                <a:ext cx="216888" cy="173655"/>
              </a:xfrm>
              <a:custGeom>
                <a:avLst/>
                <a:gdLst>
                  <a:gd name="connsiteX0" fmla="*/ 814 w 216888"/>
                  <a:gd name="connsiteY0" fmla="*/ 98257 h 173655"/>
                  <a:gd name="connsiteX1" fmla="*/ 35955 w 216888"/>
                  <a:gd name="connsiteY1" fmla="*/ 173655 h 173655"/>
                  <a:gd name="connsiteX2" fmla="*/ 216888 w 216888"/>
                  <a:gd name="connsiteY2" fmla="*/ 7278 h 173655"/>
                  <a:gd name="connsiteX3" fmla="*/ 814 w 216888"/>
                  <a:gd name="connsiteY3" fmla="*/ 98257 h 173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6888" h="173655">
                    <a:moveTo>
                      <a:pt x="814" y="98257"/>
                    </a:moveTo>
                    <a:cubicBezTo>
                      <a:pt x="814" y="98257"/>
                      <a:pt x="-8511" y="157962"/>
                      <a:pt x="35955" y="173655"/>
                    </a:cubicBezTo>
                    <a:lnTo>
                      <a:pt x="216888" y="7278"/>
                    </a:lnTo>
                    <a:cubicBezTo>
                      <a:pt x="216888" y="7278"/>
                      <a:pt x="125910" y="-38211"/>
                      <a:pt x="814" y="98257"/>
                    </a:cubicBez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F780CE1-F12B-A320-A6D1-DAF18B8FDC6F}"/>
                  </a:ext>
                </a:extLst>
              </p:cNvPr>
              <p:cNvSpPr/>
              <p:nvPr/>
            </p:nvSpPr>
            <p:spPr>
              <a:xfrm>
                <a:off x="4687974" y="4798637"/>
                <a:ext cx="228718" cy="170777"/>
              </a:xfrm>
              <a:custGeom>
                <a:avLst/>
                <a:gdLst>
                  <a:gd name="connsiteX0" fmla="*/ 1272 w 228718"/>
                  <a:gd name="connsiteY0" fmla="*/ 46591 h 170777"/>
                  <a:gd name="connsiteX1" fmla="*/ 180614 w 228718"/>
                  <a:gd name="connsiteY1" fmla="*/ 170777 h 170777"/>
                  <a:gd name="connsiteX2" fmla="*/ 228718 w 228718"/>
                  <a:gd name="connsiteY2" fmla="*/ 103453 h 170777"/>
                  <a:gd name="connsiteX3" fmla="*/ 35162 w 228718"/>
                  <a:gd name="connsiteY3" fmla="*/ 1102 h 170777"/>
                  <a:gd name="connsiteX4" fmla="*/ 1272 w 228718"/>
                  <a:gd name="connsiteY4" fmla="*/ 46591 h 17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718" h="170777">
                    <a:moveTo>
                      <a:pt x="1272" y="46591"/>
                    </a:moveTo>
                    <a:lnTo>
                      <a:pt x="180614" y="170777"/>
                    </a:lnTo>
                    <a:cubicBezTo>
                      <a:pt x="180614" y="170777"/>
                      <a:pt x="228718" y="137570"/>
                      <a:pt x="228718" y="103453"/>
                    </a:cubicBezTo>
                    <a:cubicBezTo>
                      <a:pt x="228718" y="69336"/>
                      <a:pt x="80423" y="-10270"/>
                      <a:pt x="35162" y="1102"/>
                    </a:cubicBezTo>
                    <a:cubicBezTo>
                      <a:pt x="-10100" y="12474"/>
                      <a:pt x="1272" y="46591"/>
                      <a:pt x="1272" y="46591"/>
                    </a:cubicBez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CA69CC5-6125-DD8A-8323-B7C41231BDB2}"/>
                  </a:ext>
                </a:extLst>
              </p:cNvPr>
              <p:cNvSpPr/>
              <p:nvPr/>
            </p:nvSpPr>
            <p:spPr>
              <a:xfrm>
                <a:off x="6417838" y="5268961"/>
                <a:ext cx="21380" cy="31160"/>
              </a:xfrm>
              <a:custGeom>
                <a:avLst/>
                <a:gdLst>
                  <a:gd name="connsiteX0" fmla="*/ 0 w 21380"/>
                  <a:gd name="connsiteY0" fmla="*/ 31160 h 31160"/>
                  <a:gd name="connsiteX1" fmla="*/ 7733 w 21380"/>
                  <a:gd name="connsiteY1" fmla="*/ 23654 h 31160"/>
                  <a:gd name="connsiteX2" fmla="*/ 21380 w 21380"/>
                  <a:gd name="connsiteY2" fmla="*/ 0 h 31160"/>
                  <a:gd name="connsiteX3" fmla="*/ 0 w 21380"/>
                  <a:gd name="connsiteY3" fmla="*/ 31160 h 3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80" h="31160">
                    <a:moveTo>
                      <a:pt x="0" y="31160"/>
                    </a:moveTo>
                    <a:cubicBezTo>
                      <a:pt x="0" y="31160"/>
                      <a:pt x="2729" y="28545"/>
                      <a:pt x="7733" y="23654"/>
                    </a:cubicBezTo>
                    <a:lnTo>
                      <a:pt x="21380" y="0"/>
                    </a:lnTo>
                    <a:lnTo>
                      <a:pt x="0" y="31160"/>
                    </a:lnTo>
                    <a:close/>
                  </a:path>
                </a:pathLst>
              </a:custGeom>
              <a:noFill/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EB41718-35B5-60ED-C882-538C419BEFE3}"/>
                  </a:ext>
                </a:extLst>
              </p:cNvPr>
              <p:cNvSpPr/>
              <p:nvPr/>
            </p:nvSpPr>
            <p:spPr>
              <a:xfrm>
                <a:off x="6930502" y="5539850"/>
                <a:ext cx="1819" cy="1819"/>
              </a:xfrm>
              <a:custGeom>
                <a:avLst/>
                <a:gdLst>
                  <a:gd name="connsiteX0" fmla="*/ 1820 w 1819"/>
                  <a:gd name="connsiteY0" fmla="*/ 0 h 1819"/>
                  <a:gd name="connsiteX1" fmla="*/ 1820 w 1819"/>
                  <a:gd name="connsiteY1" fmla="*/ 0 h 1819"/>
                  <a:gd name="connsiteX2" fmla="*/ 0 w 1819"/>
                  <a:gd name="connsiteY2" fmla="*/ 1820 h 1819"/>
                  <a:gd name="connsiteX3" fmla="*/ 1820 w 1819"/>
                  <a:gd name="connsiteY3" fmla="*/ 0 h 1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9" h="1819">
                    <a:moveTo>
                      <a:pt x="1820" y="0"/>
                    </a:moveTo>
                    <a:cubicBezTo>
                      <a:pt x="1820" y="0"/>
                      <a:pt x="1706" y="0"/>
                      <a:pt x="1820" y="0"/>
                    </a:cubicBezTo>
                    <a:cubicBezTo>
                      <a:pt x="1137" y="569"/>
                      <a:pt x="569" y="1251"/>
                      <a:pt x="0" y="1820"/>
                    </a:cubicBezTo>
                    <a:lnTo>
                      <a:pt x="1820" y="0"/>
                    </a:lnTo>
                    <a:close/>
                  </a:path>
                </a:pathLst>
              </a:custGeom>
              <a:solidFill>
                <a:srgbClr val="ED8A63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F09DDF1-56AB-7686-C0FA-360ADD2BF754}"/>
                  </a:ext>
                </a:extLst>
              </p:cNvPr>
              <p:cNvSpPr/>
              <p:nvPr/>
            </p:nvSpPr>
            <p:spPr>
              <a:xfrm>
                <a:off x="6579553" y="5541669"/>
                <a:ext cx="350949" cy="345832"/>
              </a:xfrm>
              <a:custGeom>
                <a:avLst/>
                <a:gdLst>
                  <a:gd name="connsiteX0" fmla="*/ 350950 w 350949"/>
                  <a:gd name="connsiteY0" fmla="*/ 0 h 345832"/>
                  <a:gd name="connsiteX1" fmla="*/ 0 w 350949"/>
                  <a:gd name="connsiteY1" fmla="*/ 345832 h 345832"/>
                  <a:gd name="connsiteX2" fmla="*/ 350950 w 350949"/>
                  <a:gd name="connsiteY2" fmla="*/ 0 h 345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0949" h="345832">
                    <a:moveTo>
                      <a:pt x="350950" y="0"/>
                    </a:moveTo>
                    <a:lnTo>
                      <a:pt x="0" y="345832"/>
                    </a:lnTo>
                    <a:cubicBezTo>
                      <a:pt x="114292" y="238705"/>
                      <a:pt x="233701" y="115998"/>
                      <a:pt x="350950" y="0"/>
                    </a:cubicBezTo>
                    <a:close/>
                  </a:path>
                </a:pathLst>
              </a:custGeom>
              <a:noFill/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B65C268-9647-9FDF-E079-C60B38AF9813}"/>
                  </a:ext>
                </a:extLst>
              </p:cNvPr>
              <p:cNvSpPr/>
              <p:nvPr/>
            </p:nvSpPr>
            <p:spPr>
              <a:xfrm>
                <a:off x="6439332" y="5268961"/>
                <a:ext cx="11372" cy="113"/>
              </a:xfrm>
              <a:custGeom>
                <a:avLst/>
                <a:gdLst>
                  <a:gd name="connsiteX0" fmla="*/ 0 w 11372"/>
                  <a:gd name="connsiteY0" fmla="*/ 114 h 113"/>
                  <a:gd name="connsiteX1" fmla="*/ 0 w 11372"/>
                  <a:gd name="connsiteY1" fmla="*/ 0 h 113"/>
                  <a:gd name="connsiteX2" fmla="*/ 0 w 11372"/>
                  <a:gd name="connsiteY2" fmla="*/ 114 h 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372" h="113">
                    <a:moveTo>
                      <a:pt x="0" y="114"/>
                    </a:moveTo>
                    <a:lnTo>
                      <a:pt x="0" y="0"/>
                    </a:lnTo>
                    <a:lnTo>
                      <a:pt x="0" y="114"/>
                    </a:lnTo>
                    <a:close/>
                  </a:path>
                </a:pathLst>
              </a:custGeom>
              <a:noFill/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DBB3113-1C43-78FA-5224-9E939D7E1D4A}"/>
                  </a:ext>
                </a:extLst>
              </p:cNvPr>
              <p:cNvSpPr/>
              <p:nvPr/>
            </p:nvSpPr>
            <p:spPr>
              <a:xfrm>
                <a:off x="6224509" y="4959748"/>
                <a:ext cx="573164" cy="681543"/>
              </a:xfrm>
              <a:custGeom>
                <a:avLst/>
                <a:gdLst>
                  <a:gd name="connsiteX0" fmla="*/ 0 w 573164"/>
                  <a:gd name="connsiteY0" fmla="*/ 681543 h 681543"/>
                  <a:gd name="connsiteX1" fmla="*/ 573165 w 573164"/>
                  <a:gd name="connsiteY1" fmla="*/ 0 h 681543"/>
                  <a:gd name="connsiteX2" fmla="*/ 201063 w 573164"/>
                  <a:gd name="connsiteY2" fmla="*/ 332982 h 681543"/>
                  <a:gd name="connsiteX3" fmla="*/ 0 w 573164"/>
                  <a:gd name="connsiteY3" fmla="*/ 681543 h 68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164" h="681543">
                    <a:moveTo>
                      <a:pt x="0" y="681543"/>
                    </a:moveTo>
                    <a:lnTo>
                      <a:pt x="573165" y="0"/>
                    </a:lnTo>
                    <a:cubicBezTo>
                      <a:pt x="428964" y="116680"/>
                      <a:pt x="241207" y="294657"/>
                      <a:pt x="201063" y="332982"/>
                    </a:cubicBezTo>
                    <a:lnTo>
                      <a:pt x="0" y="681543"/>
                    </a:lnTo>
                    <a:close/>
                  </a:path>
                </a:pathLst>
              </a:custGeom>
              <a:solidFill>
                <a:srgbClr val="EA8B62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2611962D-D6EB-E8CB-4BD7-0592CF2FD0A6}"/>
                  </a:ext>
                </a:extLst>
              </p:cNvPr>
              <p:cNvSpPr/>
              <p:nvPr/>
            </p:nvSpPr>
            <p:spPr>
              <a:xfrm>
                <a:off x="6622540" y="4799739"/>
                <a:ext cx="789352" cy="807434"/>
              </a:xfrm>
              <a:custGeom>
                <a:avLst/>
                <a:gdLst>
                  <a:gd name="connsiteX0" fmla="*/ 0 w 789352"/>
                  <a:gd name="connsiteY0" fmla="*/ 807435 h 807434"/>
                  <a:gd name="connsiteX1" fmla="*/ 511754 w 789352"/>
                  <a:gd name="connsiteY1" fmla="*/ 295680 h 807434"/>
                  <a:gd name="connsiteX2" fmla="*/ 789353 w 789352"/>
                  <a:gd name="connsiteY2" fmla="*/ 0 h 807434"/>
                  <a:gd name="connsiteX3" fmla="*/ 789353 w 789352"/>
                  <a:gd name="connsiteY3" fmla="*/ 0 h 807434"/>
                  <a:gd name="connsiteX4" fmla="*/ 739201 w 789352"/>
                  <a:gd name="connsiteY4" fmla="*/ 34117 h 807434"/>
                  <a:gd name="connsiteX5" fmla="*/ 511754 w 789352"/>
                  <a:gd name="connsiteY5" fmla="*/ 250191 h 807434"/>
                  <a:gd name="connsiteX6" fmla="*/ 0 w 789352"/>
                  <a:gd name="connsiteY6" fmla="*/ 807435 h 807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9352" h="807434">
                    <a:moveTo>
                      <a:pt x="0" y="807435"/>
                    </a:moveTo>
                    <a:cubicBezTo>
                      <a:pt x="0" y="807435"/>
                      <a:pt x="386659" y="432148"/>
                      <a:pt x="511754" y="295680"/>
                    </a:cubicBezTo>
                    <a:cubicBezTo>
                      <a:pt x="636850" y="159213"/>
                      <a:pt x="771271" y="68234"/>
                      <a:pt x="789353" y="0"/>
                    </a:cubicBezTo>
                    <a:lnTo>
                      <a:pt x="789353" y="0"/>
                    </a:lnTo>
                    <a:cubicBezTo>
                      <a:pt x="758761" y="17741"/>
                      <a:pt x="739201" y="34117"/>
                      <a:pt x="739201" y="34117"/>
                    </a:cubicBezTo>
                    <a:cubicBezTo>
                      <a:pt x="739201" y="34117"/>
                      <a:pt x="614105" y="159213"/>
                      <a:pt x="511754" y="250191"/>
                    </a:cubicBezTo>
                    <a:cubicBezTo>
                      <a:pt x="409404" y="341170"/>
                      <a:pt x="0" y="807435"/>
                      <a:pt x="0" y="807435"/>
                    </a:cubicBezTo>
                    <a:close/>
                  </a:path>
                </a:pathLst>
              </a:custGeom>
              <a:solidFill>
                <a:srgbClr val="EA8B62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64C8824C-9E0A-3876-926C-608B58F25289}"/>
                  </a:ext>
                </a:extLst>
              </p:cNvPr>
              <p:cNvSpPr/>
              <p:nvPr/>
            </p:nvSpPr>
            <p:spPr>
              <a:xfrm flipV="1">
                <a:off x="5314397" y="5539850"/>
                <a:ext cx="1617812" cy="1318150"/>
              </a:xfrm>
              <a:custGeom>
                <a:avLst/>
                <a:gdLst>
                  <a:gd name="connsiteX0" fmla="*/ 1617812 w 1617812"/>
                  <a:gd name="connsiteY0" fmla="*/ 1318150 h 1318150"/>
                  <a:gd name="connsiteX1" fmla="*/ 1616106 w 1617812"/>
                  <a:gd name="connsiteY1" fmla="*/ 1316444 h 1318150"/>
                  <a:gd name="connsiteX2" fmla="*/ 1265156 w 1617812"/>
                  <a:gd name="connsiteY2" fmla="*/ 970612 h 1318150"/>
                  <a:gd name="connsiteX3" fmla="*/ 1032820 w 1617812"/>
                  <a:gd name="connsiteY3" fmla="*/ 775122 h 1318150"/>
                  <a:gd name="connsiteX4" fmla="*/ 148167 w 1617812"/>
                  <a:gd name="connsiteY4" fmla="*/ 11243 h 1318150"/>
                  <a:gd name="connsiteX5" fmla="*/ 135778 w 1617812"/>
                  <a:gd name="connsiteY5" fmla="*/ 0 h 1318150"/>
                  <a:gd name="connsiteX6" fmla="*/ 0 w 1617812"/>
                  <a:gd name="connsiteY6" fmla="*/ 0 h 1318150"/>
                  <a:gd name="connsiteX7" fmla="*/ 34911 w 1617812"/>
                  <a:gd name="connsiteY7" fmla="*/ 25009 h 1318150"/>
                  <a:gd name="connsiteX8" fmla="*/ 504348 w 1617812"/>
                  <a:gd name="connsiteY8" fmla="*/ 388463 h 1318150"/>
                  <a:gd name="connsiteX9" fmla="*/ 1617812 w 1617812"/>
                  <a:gd name="connsiteY9" fmla="*/ 1318150 h 131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7812" h="1318150">
                    <a:moveTo>
                      <a:pt x="1617812" y="1318150"/>
                    </a:moveTo>
                    <a:cubicBezTo>
                      <a:pt x="1617243" y="1317581"/>
                      <a:pt x="1616675" y="1317013"/>
                      <a:pt x="1616106" y="1316444"/>
                    </a:cubicBezTo>
                    <a:lnTo>
                      <a:pt x="1265156" y="970612"/>
                    </a:lnTo>
                    <a:cubicBezTo>
                      <a:pt x="1184299" y="894872"/>
                      <a:pt x="1106058" y="827093"/>
                      <a:pt x="1032820" y="775122"/>
                    </a:cubicBezTo>
                    <a:cubicBezTo>
                      <a:pt x="773645" y="591231"/>
                      <a:pt x="330124" y="181827"/>
                      <a:pt x="148167" y="11243"/>
                    </a:cubicBezTo>
                    <a:lnTo>
                      <a:pt x="135778" y="0"/>
                    </a:lnTo>
                    <a:lnTo>
                      <a:pt x="0" y="0"/>
                    </a:lnTo>
                    <a:lnTo>
                      <a:pt x="34911" y="25009"/>
                    </a:lnTo>
                    <a:cubicBezTo>
                      <a:pt x="239345" y="172979"/>
                      <a:pt x="407911" y="301635"/>
                      <a:pt x="504348" y="388463"/>
                    </a:cubicBezTo>
                    <a:cubicBezTo>
                      <a:pt x="943433" y="783878"/>
                      <a:pt x="1615424" y="1316217"/>
                      <a:pt x="1617812" y="1318150"/>
                    </a:cubicBezTo>
                    <a:close/>
                  </a:path>
                </a:pathLst>
              </a:custGeom>
              <a:solidFill>
                <a:srgbClr val="EA8B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8743F76-7141-5BEC-ABED-C5574F4303FD}"/>
                  </a:ext>
                </a:extLst>
              </p:cNvPr>
              <p:cNvSpPr/>
              <p:nvPr/>
            </p:nvSpPr>
            <p:spPr>
              <a:xfrm>
                <a:off x="3652846" y="6352854"/>
                <a:ext cx="2177381" cy="538164"/>
              </a:xfrm>
              <a:custGeom>
                <a:avLst/>
                <a:gdLst>
                  <a:gd name="connsiteX0" fmla="*/ 599122 w 2177381"/>
                  <a:gd name="connsiteY0" fmla="*/ 0 h 366765"/>
                  <a:gd name="connsiteX1" fmla="*/ 2177381 w 2177381"/>
                  <a:gd name="connsiteY1" fmla="*/ 221063 h 366765"/>
                  <a:gd name="connsiteX2" fmla="*/ 1998820 w 2177381"/>
                  <a:gd name="connsiteY2" fmla="*/ 366765 h 366765"/>
                  <a:gd name="connsiteX3" fmla="*/ 0 w 2177381"/>
                  <a:gd name="connsiteY3" fmla="*/ 366765 h 366765"/>
                  <a:gd name="connsiteX4" fmla="*/ 599122 w 2177381"/>
                  <a:gd name="connsiteY4" fmla="*/ 0 h 36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77381" h="366765">
                    <a:moveTo>
                      <a:pt x="599122" y="0"/>
                    </a:moveTo>
                    <a:lnTo>
                      <a:pt x="2177381" y="221063"/>
                    </a:lnTo>
                    <a:lnTo>
                      <a:pt x="1998820" y="366765"/>
                    </a:lnTo>
                    <a:lnTo>
                      <a:pt x="0" y="366765"/>
                    </a:lnTo>
                    <a:lnTo>
                      <a:pt x="599122" y="0"/>
                    </a:lnTo>
                    <a:close/>
                  </a:path>
                </a:pathLst>
              </a:custGeom>
              <a:gradFill>
                <a:gsLst>
                  <a:gs pos="19000">
                    <a:schemeClr val="accent5"/>
                  </a:gs>
                  <a:gs pos="75000">
                    <a:schemeClr val="accent5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88FBF4A-D9DB-8B49-4EE1-1A12BD7EC0BA}"/>
              </a:ext>
            </a:extLst>
          </p:cNvPr>
          <p:cNvGrpSpPr/>
          <p:nvPr/>
        </p:nvGrpSpPr>
        <p:grpSpPr>
          <a:xfrm>
            <a:off x="-5426868" y="1556792"/>
            <a:ext cx="2286305" cy="1008112"/>
            <a:chOff x="7663543" y="1850570"/>
            <a:chExt cx="3111389" cy="1008112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50C7E01-B6DE-70E4-1CA7-72B85F70A7A2}"/>
                </a:ext>
              </a:extLst>
            </p:cNvPr>
            <p:cNvSpPr txBox="1"/>
            <p:nvPr/>
          </p:nvSpPr>
          <p:spPr>
            <a:xfrm>
              <a:off x="7663543" y="2270177"/>
              <a:ext cx="3111389" cy="5885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r" defTabSz="121898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UI"/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FC6EC55-D1C0-45F1-43EC-65839699377C}"/>
                </a:ext>
              </a:extLst>
            </p:cNvPr>
            <p:cNvSpPr txBox="1"/>
            <p:nvPr/>
          </p:nvSpPr>
          <p:spPr>
            <a:xfrm>
              <a:off x="7663543" y="1850570"/>
              <a:ext cx="3111389" cy="2958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r" defTabSz="121898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Segoe UI Light" panose="020B0502040204020203" pitchFamily="34" charset="0"/>
                </a:rPr>
                <a:t>Placeholder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CE0A601-EBA5-CF3E-6A03-A12BE002B640}"/>
              </a:ext>
            </a:extLst>
          </p:cNvPr>
          <p:cNvGrpSpPr/>
          <p:nvPr/>
        </p:nvGrpSpPr>
        <p:grpSpPr>
          <a:xfrm>
            <a:off x="14495930" y="5157192"/>
            <a:ext cx="2286305" cy="1008112"/>
            <a:chOff x="7663543" y="1850570"/>
            <a:chExt cx="3111389" cy="1008112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2D36257-7043-46C1-B439-C633BB715E93}"/>
                </a:ext>
              </a:extLst>
            </p:cNvPr>
            <p:cNvSpPr txBox="1"/>
            <p:nvPr/>
          </p:nvSpPr>
          <p:spPr>
            <a:xfrm>
              <a:off x="7663543" y="2270177"/>
              <a:ext cx="3111389" cy="5885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36B6605-F835-9041-90D3-15A50E3B38D4}"/>
                </a:ext>
              </a:extLst>
            </p:cNvPr>
            <p:cNvSpPr txBox="1"/>
            <p:nvPr/>
          </p:nvSpPr>
          <p:spPr>
            <a:xfrm>
              <a:off x="7663543" y="1850570"/>
              <a:ext cx="3111389" cy="2958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 Light" panose="020B0502040204020203" pitchFamily="34" charset="0"/>
                </a:rPr>
                <a:t>Placeholder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989BB8DF-9AB7-F7C0-51CB-93273CC8A12C}"/>
              </a:ext>
            </a:extLst>
          </p:cNvPr>
          <p:cNvSpPr/>
          <p:nvPr/>
        </p:nvSpPr>
        <p:spPr>
          <a:xfrm>
            <a:off x="5079961" y="1990979"/>
            <a:ext cx="7118605" cy="3345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8BB76-FAA6-52D5-4587-3B5231A2613A}"/>
              </a:ext>
            </a:extLst>
          </p:cNvPr>
          <p:cNvSpPr txBox="1"/>
          <p:nvPr/>
        </p:nvSpPr>
        <p:spPr>
          <a:xfrm>
            <a:off x="5287425" y="2490505"/>
            <a:ext cx="5265384" cy="7167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Users prove they belong — without revealing who they are.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Identity commitments are stored on blockchain.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ZKPs verify membership without exposing identity.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D6E1B0-41E9-1CB9-CF27-6F350F04FAC2}"/>
              </a:ext>
            </a:extLst>
          </p:cNvPr>
          <p:cNvSpPr txBox="1"/>
          <p:nvPr/>
        </p:nvSpPr>
        <p:spPr>
          <a:xfrm>
            <a:off x="5079961" y="1986149"/>
            <a:ext cx="7317720" cy="4914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>
              <a:lnSpc>
                <a:spcPct val="110000"/>
              </a:lnSpc>
            </a:pPr>
            <a:r>
              <a:rPr lang="en-US" b="1" dirty="0">
                <a:solidFill>
                  <a:srgbClr val="F7D029">
                    <a:lumMod val="50000"/>
                  </a:srgbClr>
                </a:solidFill>
                <a:cs typeface="Segoe UI Light" panose="020B0502040204020203" pitchFamily="34" charset="0"/>
              </a:rPr>
              <a:t> Anonymous Authentication (ZKPs + Blockchain)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7D029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DD6F76-E7B1-740E-A94F-A80A2A8FDE0D}"/>
              </a:ext>
            </a:extLst>
          </p:cNvPr>
          <p:cNvSpPr txBox="1"/>
          <p:nvPr/>
        </p:nvSpPr>
        <p:spPr>
          <a:xfrm>
            <a:off x="5166189" y="3200040"/>
            <a:ext cx="7317720" cy="4914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>
              <a:lnSpc>
                <a:spcPct val="110000"/>
              </a:lnSpc>
            </a:pPr>
            <a:r>
              <a:rPr lang="en-US" b="1" dirty="0">
                <a:solidFill>
                  <a:srgbClr val="F7D029">
                    <a:lumMod val="50000"/>
                  </a:srgbClr>
                </a:solidFill>
                <a:cs typeface="Segoe UI Light" panose="020B0502040204020203" pitchFamily="34" charset="0"/>
              </a:rPr>
              <a:t>End-to-End Encryption (AES-GCM)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7D029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EC7D6B-65BF-9303-1288-B69CA572A046}"/>
              </a:ext>
            </a:extLst>
          </p:cNvPr>
          <p:cNvSpPr txBox="1"/>
          <p:nvPr/>
        </p:nvSpPr>
        <p:spPr>
          <a:xfrm>
            <a:off x="5287425" y="3701794"/>
            <a:ext cx="5265384" cy="7167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All messages are encrypted before they leave the user’s device.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Only the intended recipient can decrypt it.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The server never sees the content of any message.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D16E6B-240A-1FA7-0931-A25C816A047D}"/>
              </a:ext>
            </a:extLst>
          </p:cNvPr>
          <p:cNvSpPr txBox="1"/>
          <p:nvPr/>
        </p:nvSpPr>
        <p:spPr>
          <a:xfrm>
            <a:off x="5166189" y="4344313"/>
            <a:ext cx="7317720" cy="4914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>
              <a:lnSpc>
                <a:spcPct val="110000"/>
              </a:lnSpc>
            </a:pPr>
            <a:r>
              <a:rPr lang="en-US" b="1" dirty="0">
                <a:solidFill>
                  <a:srgbClr val="F7D029">
                    <a:lumMod val="50000"/>
                  </a:srgbClr>
                </a:solidFill>
                <a:cs typeface="Segoe UI Light" panose="020B0502040204020203" pitchFamily="34" charset="0"/>
              </a:rPr>
              <a:t>Ephemeral Messaging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7D029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1501C4-7F69-448F-4A99-4D267301F2BD}"/>
              </a:ext>
            </a:extLst>
          </p:cNvPr>
          <p:cNvSpPr txBox="1"/>
          <p:nvPr/>
        </p:nvSpPr>
        <p:spPr>
          <a:xfrm>
            <a:off x="5287425" y="4824016"/>
            <a:ext cx="5265384" cy="7167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Nothing is saved on the server or database.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Even if someone hacks the system — there’s </a:t>
            </a:r>
            <a:r>
              <a:rPr lang="en-US" sz="1400" b="1" dirty="0"/>
              <a:t>nothing to find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0090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5" grpId="0"/>
      <p:bldP spid="6" grpId="0"/>
      <p:bldP spid="11" grpId="0"/>
      <p:bldP spid="20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F99A-D80D-CA93-D8DF-6F6AB42B2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How It Works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Graphic 17">
            <a:extLst>
              <a:ext uri="{FF2B5EF4-FFF2-40B4-BE49-F238E27FC236}">
                <a16:creationId xmlns:a16="http://schemas.microsoft.com/office/drawing/2014/main" id="{9EA1B48B-E05C-9D8C-B395-7F59D9E1E539}"/>
              </a:ext>
            </a:extLst>
          </p:cNvPr>
          <p:cNvSpPr/>
          <p:nvPr/>
        </p:nvSpPr>
        <p:spPr>
          <a:xfrm>
            <a:off x="853398" y="2235898"/>
            <a:ext cx="10482028" cy="3801174"/>
          </a:xfrm>
          <a:custGeom>
            <a:avLst/>
            <a:gdLst>
              <a:gd name="connsiteX0" fmla="*/ 5290779 w 10586211"/>
              <a:gd name="connsiteY0" fmla="*/ 0 h 3838955"/>
              <a:gd name="connsiteX1" fmla="*/ 9627636 w 10586211"/>
              <a:gd name="connsiteY1" fmla="*/ 0 h 3838955"/>
              <a:gd name="connsiteX2" fmla="*/ 10586211 w 10586211"/>
              <a:gd name="connsiteY2" fmla="*/ 958576 h 3838955"/>
              <a:gd name="connsiteX3" fmla="*/ 10586211 w 10586211"/>
              <a:gd name="connsiteY3" fmla="*/ 958576 h 3838955"/>
              <a:gd name="connsiteX4" fmla="*/ 9627636 w 10586211"/>
              <a:gd name="connsiteY4" fmla="*/ 1917151 h 3838955"/>
              <a:gd name="connsiteX5" fmla="*/ 9622982 w 10586211"/>
              <a:gd name="connsiteY5" fmla="*/ 1921804 h 3838955"/>
              <a:gd name="connsiteX6" fmla="*/ 958576 w 10586211"/>
              <a:gd name="connsiteY6" fmla="*/ 1921804 h 3838955"/>
              <a:gd name="connsiteX7" fmla="*/ 0 w 10586211"/>
              <a:gd name="connsiteY7" fmla="*/ 2880380 h 3838955"/>
              <a:gd name="connsiteX8" fmla="*/ 0 w 10586211"/>
              <a:gd name="connsiteY8" fmla="*/ 2880380 h 3838955"/>
              <a:gd name="connsiteX9" fmla="*/ 958576 w 10586211"/>
              <a:gd name="connsiteY9" fmla="*/ 3838956 h 3838955"/>
              <a:gd name="connsiteX10" fmla="*/ 5290779 w 10586211"/>
              <a:gd name="connsiteY10" fmla="*/ 3838956 h 3838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86211" h="3838955">
                <a:moveTo>
                  <a:pt x="5290779" y="0"/>
                </a:moveTo>
                <a:lnTo>
                  <a:pt x="9627636" y="0"/>
                </a:lnTo>
                <a:cubicBezTo>
                  <a:pt x="10154853" y="0"/>
                  <a:pt x="10586211" y="431359"/>
                  <a:pt x="10586211" y="958576"/>
                </a:cubicBezTo>
                <a:lnTo>
                  <a:pt x="10586211" y="958576"/>
                </a:lnTo>
                <a:cubicBezTo>
                  <a:pt x="10586211" y="1485792"/>
                  <a:pt x="10154853" y="1917151"/>
                  <a:pt x="9627636" y="1917151"/>
                </a:cubicBezTo>
                <a:lnTo>
                  <a:pt x="9622982" y="1921804"/>
                </a:lnTo>
                <a:lnTo>
                  <a:pt x="958576" y="1921804"/>
                </a:lnTo>
                <a:cubicBezTo>
                  <a:pt x="431359" y="1921804"/>
                  <a:pt x="0" y="2353163"/>
                  <a:pt x="0" y="2880380"/>
                </a:cubicBezTo>
                <a:lnTo>
                  <a:pt x="0" y="2880380"/>
                </a:lnTo>
                <a:cubicBezTo>
                  <a:pt x="0" y="3407596"/>
                  <a:pt x="431359" y="3838956"/>
                  <a:pt x="958576" y="3838956"/>
                </a:cubicBezTo>
                <a:lnTo>
                  <a:pt x="5290779" y="3838956"/>
                </a:lnTo>
              </a:path>
            </a:pathLst>
          </a:custGeom>
          <a:noFill/>
          <a:ln w="444500" cap="rnd">
            <a:gradFill>
              <a:gsLst>
                <a:gs pos="0">
                  <a:schemeClr val="accent2">
                    <a:lumMod val="50000"/>
                  </a:schemeClr>
                </a:gs>
                <a:gs pos="100000">
                  <a:schemeClr val="accent4"/>
                </a:gs>
              </a:gsLst>
              <a:lin ang="10800000" scaled="0"/>
            </a:gra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729D62A-12DD-45C2-89C6-960E838EB124}"/>
              </a:ext>
            </a:extLst>
          </p:cNvPr>
          <p:cNvSpPr/>
          <p:nvPr/>
        </p:nvSpPr>
        <p:spPr>
          <a:xfrm>
            <a:off x="5974286" y="4023241"/>
            <a:ext cx="240253" cy="2402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accent5"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A3AF70-5B39-B9CE-9769-88670B22BCA6}"/>
              </a:ext>
            </a:extLst>
          </p:cNvPr>
          <p:cNvSpPr/>
          <p:nvPr/>
        </p:nvSpPr>
        <p:spPr>
          <a:xfrm>
            <a:off x="9838828" y="4023241"/>
            <a:ext cx="240253" cy="2402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accent5"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2F10FED-A80E-6802-BDA7-E66D160865D2}"/>
              </a:ext>
            </a:extLst>
          </p:cNvPr>
          <p:cNvSpPr/>
          <p:nvPr/>
        </p:nvSpPr>
        <p:spPr>
          <a:xfrm>
            <a:off x="2109743" y="4023241"/>
            <a:ext cx="240253" cy="2402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accent5"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A7762B-09A5-9556-8E94-5FA30DE924BC}"/>
              </a:ext>
            </a:extLst>
          </p:cNvPr>
          <p:cNvSpPr/>
          <p:nvPr/>
        </p:nvSpPr>
        <p:spPr>
          <a:xfrm>
            <a:off x="5974286" y="2113758"/>
            <a:ext cx="240253" cy="2402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accent5"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ADDFE6-E4CD-51DD-9A51-511CB762E017}"/>
              </a:ext>
            </a:extLst>
          </p:cNvPr>
          <p:cNvSpPr/>
          <p:nvPr/>
        </p:nvSpPr>
        <p:spPr>
          <a:xfrm>
            <a:off x="9838828" y="2113758"/>
            <a:ext cx="240253" cy="2402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accent5"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BDC3CEA-95C7-ADF6-4DE2-4D0605B6709A}"/>
              </a:ext>
            </a:extLst>
          </p:cNvPr>
          <p:cNvSpPr/>
          <p:nvPr/>
        </p:nvSpPr>
        <p:spPr>
          <a:xfrm>
            <a:off x="5974286" y="5923759"/>
            <a:ext cx="240253" cy="2402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accent5"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F332AFC-27C4-4780-7D42-3EEC4F2B0F12}"/>
              </a:ext>
            </a:extLst>
          </p:cNvPr>
          <p:cNvSpPr/>
          <p:nvPr/>
        </p:nvSpPr>
        <p:spPr>
          <a:xfrm>
            <a:off x="2109743" y="5923759"/>
            <a:ext cx="240253" cy="2402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accent5"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444552-69B5-94BA-262B-026292659A60}"/>
              </a:ext>
            </a:extLst>
          </p:cNvPr>
          <p:cNvSpPr/>
          <p:nvPr/>
        </p:nvSpPr>
        <p:spPr>
          <a:xfrm>
            <a:off x="5145292" y="1697912"/>
            <a:ext cx="1877970" cy="248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Enters Chat App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1DD581F-7B28-3FB4-3BFD-1E19E0A5803A}"/>
              </a:ext>
            </a:extLst>
          </p:cNvPr>
          <p:cNvSpPr/>
          <p:nvPr/>
        </p:nvSpPr>
        <p:spPr>
          <a:xfrm>
            <a:off x="8751869" y="1575371"/>
            <a:ext cx="2325270" cy="36279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Wallet Login via MetaMask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0D3193-9735-8A80-FE5B-B469949BBA03}"/>
              </a:ext>
            </a:extLst>
          </p:cNvPr>
          <p:cNvSpPr/>
          <p:nvPr/>
        </p:nvSpPr>
        <p:spPr>
          <a:xfrm>
            <a:off x="4779454" y="3333596"/>
            <a:ext cx="2677312" cy="56963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Generate Zero-Knowledge Proof (ZKP)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2A67100-EA24-A77B-8650-38EE24AEA1CD}"/>
              </a:ext>
            </a:extLst>
          </p:cNvPr>
          <p:cNvSpPr/>
          <p:nvPr/>
        </p:nvSpPr>
        <p:spPr>
          <a:xfrm>
            <a:off x="9010156" y="3485237"/>
            <a:ext cx="1877970" cy="36281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Wallet Login via MetaMask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080059-228D-0B24-E5BF-5F2FD2A23B74}"/>
              </a:ext>
            </a:extLst>
          </p:cNvPr>
          <p:cNvSpPr/>
          <p:nvPr/>
        </p:nvSpPr>
        <p:spPr>
          <a:xfrm>
            <a:off x="1280428" y="3487933"/>
            <a:ext cx="1877970" cy="248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Backend Verifies ZKP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46E7083-4510-44D0-7E52-C49A378FE34C}"/>
              </a:ext>
            </a:extLst>
          </p:cNvPr>
          <p:cNvSpPr/>
          <p:nvPr/>
        </p:nvSpPr>
        <p:spPr>
          <a:xfrm>
            <a:off x="5145292" y="5421715"/>
            <a:ext cx="1877970" cy="248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Ephemeral Messaging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8CBD4B4-0596-2E76-DC17-34F518FB2A13}"/>
              </a:ext>
            </a:extLst>
          </p:cNvPr>
          <p:cNvSpPr/>
          <p:nvPr/>
        </p:nvSpPr>
        <p:spPr>
          <a:xfrm>
            <a:off x="1280428" y="5377724"/>
            <a:ext cx="1877970" cy="248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Encrypt &amp; Send Message</a:t>
            </a:r>
          </a:p>
        </p:txBody>
      </p:sp>
      <p:pic>
        <p:nvPicPr>
          <p:cNvPr id="55" name="Graphic 54" descr="Briefcase with solid fill">
            <a:extLst>
              <a:ext uri="{FF2B5EF4-FFF2-40B4-BE49-F238E27FC236}">
                <a16:creationId xmlns:a16="http://schemas.microsoft.com/office/drawing/2014/main" id="{08D92078-3CF6-FF1E-F77F-DC4D69689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0533" y="886064"/>
            <a:ext cx="584278" cy="584278"/>
          </a:xfrm>
          <a:prstGeom prst="rect">
            <a:avLst/>
          </a:prstGeom>
        </p:spPr>
      </p:pic>
      <p:pic>
        <p:nvPicPr>
          <p:cNvPr id="57" name="Graphic 56" descr="Database with solid fill">
            <a:extLst>
              <a:ext uri="{FF2B5EF4-FFF2-40B4-BE49-F238E27FC236}">
                <a16:creationId xmlns:a16="http://schemas.microsoft.com/office/drawing/2014/main" id="{3C6DD35A-3D0E-DC55-2EF1-A9C5A6D20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2273" y="2744331"/>
            <a:ext cx="584278" cy="584278"/>
          </a:xfrm>
          <a:prstGeom prst="rect">
            <a:avLst/>
          </a:prstGeom>
        </p:spPr>
      </p:pic>
      <p:pic>
        <p:nvPicPr>
          <p:cNvPr id="59" name="Graphic 58" descr="Decision chart with solid fill">
            <a:extLst>
              <a:ext uri="{FF2B5EF4-FFF2-40B4-BE49-F238E27FC236}">
                <a16:creationId xmlns:a16="http://schemas.microsoft.com/office/drawing/2014/main" id="{491E96D3-997A-A705-92A5-8539C7EDA8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7274" y="2682636"/>
            <a:ext cx="584278" cy="584278"/>
          </a:xfrm>
          <a:prstGeom prst="rect">
            <a:avLst/>
          </a:prstGeom>
        </p:spPr>
      </p:pic>
      <p:pic>
        <p:nvPicPr>
          <p:cNvPr id="61" name="Graphic 60" descr="Door Open with solid fill">
            <a:extLst>
              <a:ext uri="{FF2B5EF4-FFF2-40B4-BE49-F238E27FC236}">
                <a16:creationId xmlns:a16="http://schemas.microsoft.com/office/drawing/2014/main" id="{9D57D909-4D8E-22BE-0228-6FFF431271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92138" y="966341"/>
            <a:ext cx="584278" cy="584278"/>
          </a:xfrm>
          <a:prstGeom prst="rect">
            <a:avLst/>
          </a:prstGeom>
        </p:spPr>
      </p:pic>
      <p:pic>
        <p:nvPicPr>
          <p:cNvPr id="63" name="Graphic 62" descr="Gears with solid fill">
            <a:extLst>
              <a:ext uri="{FF2B5EF4-FFF2-40B4-BE49-F238E27FC236}">
                <a16:creationId xmlns:a16="http://schemas.microsoft.com/office/drawing/2014/main" id="{21B03B15-ED7E-0109-CB05-BED7B6B484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7002" y="2778819"/>
            <a:ext cx="584278" cy="584278"/>
          </a:xfrm>
          <a:prstGeom prst="rect">
            <a:avLst/>
          </a:prstGeom>
        </p:spPr>
      </p:pic>
      <p:pic>
        <p:nvPicPr>
          <p:cNvPr id="65" name="Graphic 64" descr="Greek Temple with solid fill">
            <a:extLst>
              <a:ext uri="{FF2B5EF4-FFF2-40B4-BE49-F238E27FC236}">
                <a16:creationId xmlns:a16="http://schemas.microsoft.com/office/drawing/2014/main" id="{BC360AEA-B072-61BC-C115-807D38E689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27274" y="4620381"/>
            <a:ext cx="584278" cy="584278"/>
          </a:xfrm>
          <a:prstGeom prst="rect">
            <a:avLst/>
          </a:prstGeom>
        </p:spPr>
      </p:pic>
      <p:pic>
        <p:nvPicPr>
          <p:cNvPr id="67" name="Graphic 66" descr="Presentation with checklist with solid fill">
            <a:extLst>
              <a:ext uri="{FF2B5EF4-FFF2-40B4-BE49-F238E27FC236}">
                <a16:creationId xmlns:a16="http://schemas.microsoft.com/office/drawing/2014/main" id="{B0D46D08-E965-EDD8-0217-8BC7DA35994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02273" y="4708785"/>
            <a:ext cx="584278" cy="5842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255CB5-DD85-F6C6-FA86-7B72E7F50667}"/>
              </a:ext>
            </a:extLst>
          </p:cNvPr>
          <p:cNvSpPr txBox="1"/>
          <p:nvPr/>
        </p:nvSpPr>
        <p:spPr>
          <a:xfrm>
            <a:off x="549796" y="1054477"/>
            <a:ext cx="41624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SIMPLE 7-STEP WORKFLOW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WITH A SEQUENCE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STEPS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6EEAE-ADFF-6E28-5FD4-B8044DCBB408}"/>
              </a:ext>
            </a:extLst>
          </p:cNvPr>
          <p:cNvSpPr txBox="1"/>
          <p:nvPr/>
        </p:nvSpPr>
        <p:spPr>
          <a:xfrm>
            <a:off x="8516417" y="4385634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app turns the secret identity into a hashed identity commitment.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This is stored on the blockchain (</a:t>
            </a:r>
            <a:r>
              <a:rPr lang="en-US" sz="1200" dirty="0" err="1"/>
              <a:t>Sepolia</a:t>
            </a:r>
            <a:r>
              <a:rPr lang="en-US" sz="1200" dirty="0"/>
              <a:t> </a:t>
            </a:r>
            <a:r>
              <a:rPr lang="en-US" sz="1200" dirty="0" err="1"/>
              <a:t>Testnet</a:t>
            </a:r>
            <a:r>
              <a:rPr lang="en-US" sz="1200" dirty="0"/>
              <a:t>) — publicly verifiable, but anonymous.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1367152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0A54F-8CA7-0CB6-63B6-62FDC57E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1D8E56-15E8-4D98-2950-8EA6A211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 anchor="ctr">
            <a:normAutofit/>
          </a:bodyPr>
          <a:lstStyle/>
          <a:p>
            <a:r>
              <a:rPr lang="en-US" dirty="0"/>
              <a:t>Proving You Belong—Without Revealing Who You Are</a:t>
            </a:r>
            <a:endParaRPr lang="en-MY" dirty="0"/>
          </a:p>
        </p:txBody>
      </p:sp>
      <p:pic>
        <p:nvPicPr>
          <p:cNvPr id="8" name="Picture 7" descr="A diagram of a diagram of a diagram">
            <a:extLst>
              <a:ext uri="{FF2B5EF4-FFF2-40B4-BE49-F238E27FC236}">
                <a16:creationId xmlns:a16="http://schemas.microsoft.com/office/drawing/2014/main" id="{951DB187-6E30-4814-26A1-5CC8DD332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r="1" b="4396"/>
          <a:stretch>
            <a:fillRect/>
          </a:stretch>
        </p:blipFill>
        <p:spPr>
          <a:xfrm>
            <a:off x="609441" y="1138425"/>
            <a:ext cx="10969943" cy="49877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6682451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CA88D-D063-DA65-909F-790AA286D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7FAB54C0-8BF9-CE1A-B2FE-68D536D97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441" y="274639"/>
            <a:ext cx="10969943" cy="711081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Slide 7: Competitive Landscape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9" name="Content Placeholder 8" descr="A green and white logo&#10;&#10;AI-generated content may be incorrect.">
            <a:extLst>
              <a:ext uri="{FF2B5EF4-FFF2-40B4-BE49-F238E27FC236}">
                <a16:creationId xmlns:a16="http://schemas.microsoft.com/office/drawing/2014/main" id="{A4F7D5B8-9B52-97C2-71FE-0533C62E96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46140" y="1353201"/>
            <a:ext cx="911095" cy="711081"/>
          </a:xfr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FAC176-3B47-7DE3-1464-CCFEB7FDE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352084"/>
              </p:ext>
            </p:extLst>
          </p:nvPr>
        </p:nvGraphicFramePr>
        <p:xfrm>
          <a:off x="640620" y="2348880"/>
          <a:ext cx="10729191" cy="37169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6134">
                  <a:extLst>
                    <a:ext uri="{9D8B030D-6E8A-4147-A177-3AD203B41FA5}">
                      <a16:colId xmlns:a16="http://schemas.microsoft.com/office/drawing/2014/main" val="804651614"/>
                    </a:ext>
                  </a:extLst>
                </a:gridCol>
                <a:gridCol w="2129835">
                  <a:extLst>
                    <a:ext uri="{9D8B030D-6E8A-4147-A177-3AD203B41FA5}">
                      <a16:colId xmlns:a16="http://schemas.microsoft.com/office/drawing/2014/main" val="1158540592"/>
                    </a:ext>
                  </a:extLst>
                </a:gridCol>
                <a:gridCol w="1561343">
                  <a:extLst>
                    <a:ext uri="{9D8B030D-6E8A-4147-A177-3AD203B41FA5}">
                      <a16:colId xmlns:a16="http://schemas.microsoft.com/office/drawing/2014/main" val="1775025323"/>
                    </a:ext>
                  </a:extLst>
                </a:gridCol>
                <a:gridCol w="1845223">
                  <a:extLst>
                    <a:ext uri="{9D8B030D-6E8A-4147-A177-3AD203B41FA5}">
                      <a16:colId xmlns:a16="http://schemas.microsoft.com/office/drawing/2014/main" val="1098975661"/>
                    </a:ext>
                  </a:extLst>
                </a:gridCol>
                <a:gridCol w="2496656">
                  <a:extLst>
                    <a:ext uri="{9D8B030D-6E8A-4147-A177-3AD203B41FA5}">
                      <a16:colId xmlns:a16="http://schemas.microsoft.com/office/drawing/2014/main" val="1091506434"/>
                    </a:ext>
                  </a:extLst>
                </a:gridCol>
              </a:tblGrid>
              <a:tr h="652703"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Feature</a:t>
                      </a:r>
                    </a:p>
                  </a:txBody>
                  <a:tcPr marL="186842" marR="112105" marT="112105" marB="11210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WhatsApp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Signal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DarkFI</a:t>
                      </a:r>
                      <a:endParaRPr lang="en-MY" sz="13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SpectraChat</a:t>
                      </a:r>
                      <a:endParaRPr lang="en-MY" sz="13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587420"/>
                  </a:ext>
                </a:extLst>
              </a:tr>
              <a:tr h="453405"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E2EE</a:t>
                      </a:r>
                    </a:p>
                  </a:txBody>
                  <a:tcPr marL="186842" marR="112105" marT="112105" marB="11210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823582"/>
                  </a:ext>
                </a:extLst>
              </a:tr>
              <a:tr h="652703"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Anonymous Login</a:t>
                      </a:r>
                    </a:p>
                  </a:txBody>
                  <a:tcPr marL="186842" marR="112105" marT="112105" marB="11210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✕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✕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311999"/>
                  </a:ext>
                </a:extLst>
              </a:tr>
              <a:tr h="652703"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 Metadata Logs</a:t>
                      </a:r>
                    </a:p>
                  </a:txBody>
                  <a:tcPr marL="186842" marR="112105" marT="112105" marB="11210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✕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✕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59521"/>
                  </a:ext>
                </a:extLst>
              </a:tr>
              <a:tr h="652703"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Ephemeral Chats</a:t>
                      </a:r>
                    </a:p>
                  </a:txBody>
                  <a:tcPr marL="186842" marR="112105" marT="112105" marB="11210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✕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✕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282520"/>
                  </a:ext>
                </a:extLst>
              </a:tr>
              <a:tr h="652703"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ZKP‑Based Auth</a:t>
                      </a:r>
                    </a:p>
                  </a:txBody>
                  <a:tcPr marL="186842" marR="112105" marT="112105" marB="11210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✕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✕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✕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3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✓</a:t>
                      </a:r>
                    </a:p>
                  </a:txBody>
                  <a:tcPr marL="186842" marR="112105" marT="112105" marB="11210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74538"/>
                  </a:ext>
                </a:extLst>
              </a:tr>
            </a:tbl>
          </a:graphicData>
        </a:graphic>
      </p:graphicFrame>
      <p:pic>
        <p:nvPicPr>
          <p:cNvPr id="13" name="Picture 12" descr="A white circle with a blue background&#10;&#10;AI-generated content may be incorrect.">
            <a:extLst>
              <a:ext uri="{FF2B5EF4-FFF2-40B4-BE49-F238E27FC236}">
                <a16:creationId xmlns:a16="http://schemas.microsoft.com/office/drawing/2014/main" id="{C842BE15-C819-9566-74E7-9BB4E89001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806912" y="1353202"/>
            <a:ext cx="575000" cy="575000"/>
          </a:xfrm>
          <a:prstGeom prst="rect">
            <a:avLst/>
          </a:prstGeom>
        </p:spPr>
      </p:pic>
      <p:pic>
        <p:nvPicPr>
          <p:cNvPr id="16" name="Picture 15" descr="A black and white logo&#10;&#10;AI-generated content may be incorrect.">
            <a:extLst>
              <a:ext uri="{FF2B5EF4-FFF2-40B4-BE49-F238E27FC236}">
                <a16:creationId xmlns:a16="http://schemas.microsoft.com/office/drawing/2014/main" id="{407C74CC-A340-BA6F-D5A5-4D9254DF6F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548" y="1353202"/>
            <a:ext cx="1331109" cy="71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0386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Custom 997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224867"/>
      </a:accent1>
      <a:accent2>
        <a:srgbClr val="83C5BE"/>
      </a:accent2>
      <a:accent3>
        <a:srgbClr val="EDF6F9"/>
      </a:accent3>
      <a:accent4>
        <a:srgbClr val="F4DCB1"/>
      </a:accent4>
      <a:accent5>
        <a:srgbClr val="FDBA13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53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F3B7B"/>
      </a:accent1>
      <a:accent2>
        <a:srgbClr val="1D78DD"/>
      </a:accent2>
      <a:accent3>
        <a:srgbClr val="10BC9F"/>
      </a:accent3>
      <a:accent4>
        <a:srgbClr val="D79041"/>
      </a:accent4>
      <a:accent5>
        <a:srgbClr val="866B60"/>
      </a:accent5>
      <a:accent6>
        <a:srgbClr val="3AA5A8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5">
      <a:dk1>
        <a:srgbClr val="000000"/>
      </a:dk1>
      <a:lt1>
        <a:srgbClr val="FFFFFF"/>
      </a:lt1>
      <a:dk2>
        <a:srgbClr val="0A385E"/>
      </a:dk2>
      <a:lt2>
        <a:srgbClr val="D6417A"/>
      </a:lt2>
      <a:accent1>
        <a:srgbClr val="FFC248"/>
      </a:accent1>
      <a:accent2>
        <a:srgbClr val="1A3546"/>
      </a:accent2>
      <a:accent3>
        <a:srgbClr val="FFF4E6"/>
      </a:accent3>
      <a:accent4>
        <a:srgbClr val="FEE1B0"/>
      </a:accent4>
      <a:accent5>
        <a:srgbClr val="C94B38"/>
      </a:accent5>
      <a:accent6>
        <a:srgbClr val="5F5F5F"/>
      </a:accent6>
      <a:hlink>
        <a:srgbClr val="0563C1"/>
      </a:hlink>
      <a:folHlink>
        <a:srgbClr val="954F72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Custom 949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E35A35"/>
      </a:accent1>
      <a:accent2>
        <a:srgbClr val="F7D029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SM-pitch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E63946"/>
      </a:accent1>
      <a:accent2>
        <a:srgbClr val="F1FAEE"/>
      </a:accent2>
      <a:accent3>
        <a:srgbClr val="A8DADC"/>
      </a:accent3>
      <a:accent4>
        <a:srgbClr val="403AE2"/>
      </a:accent4>
      <a:accent5>
        <a:srgbClr val="1D3557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6593</TotalTime>
  <Words>644</Words>
  <Application>Microsoft Office PowerPoint</Application>
  <PresentationFormat>Custom</PresentationFormat>
  <Paragraphs>106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Calibri</vt:lpstr>
      <vt:lpstr>Open Sans</vt:lpstr>
      <vt:lpstr>Segoe UI</vt:lpstr>
      <vt:lpstr>Segoe UI Black</vt:lpstr>
      <vt:lpstr>Segoe UI Light</vt:lpstr>
      <vt:lpstr>Office Theme</vt:lpstr>
      <vt:lpstr>1_Office Theme</vt:lpstr>
      <vt:lpstr>2_Office Theme</vt:lpstr>
      <vt:lpstr>3_Office Theme</vt:lpstr>
      <vt:lpstr>4_Office Theme</vt:lpstr>
      <vt:lpstr>PowerPoint Presentation</vt:lpstr>
      <vt:lpstr>Introduction</vt:lpstr>
      <vt:lpstr>The Problem (Why Current “Secure” Chats Fall Short)</vt:lpstr>
      <vt:lpstr>Why Our SpectraChat Is Smarter</vt:lpstr>
      <vt:lpstr>Our Solution: Lightweight but Powerful Privacy</vt:lpstr>
      <vt:lpstr>How It Works</vt:lpstr>
      <vt:lpstr>Proving You Belong—Without Revealing Who You Are</vt:lpstr>
      <vt:lpstr>Slide 7: Competitive Landscape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Mohammad Azri</cp:lastModifiedBy>
  <cp:revision>136</cp:revision>
  <dcterms:created xsi:type="dcterms:W3CDTF">2013-09-12T13:05:01Z</dcterms:created>
  <dcterms:modified xsi:type="dcterms:W3CDTF">2025-05-21T13:28:34Z</dcterms:modified>
</cp:coreProperties>
</file>